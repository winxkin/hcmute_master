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9" r:id="rId2"/>
  </p:sldMasterIdLst>
  <p:notesMasterIdLst>
    <p:notesMasterId r:id="rId22"/>
  </p:notesMasterIdLst>
  <p:sldIdLst>
    <p:sldId id="257" r:id="rId3"/>
    <p:sldId id="258" r:id="rId4"/>
    <p:sldId id="259" r:id="rId5"/>
    <p:sldId id="260" r:id="rId6"/>
    <p:sldId id="261" r:id="rId7"/>
    <p:sldId id="262" r:id="rId8"/>
    <p:sldId id="282" r:id="rId9"/>
    <p:sldId id="283" r:id="rId10"/>
    <p:sldId id="263" r:id="rId11"/>
    <p:sldId id="264" r:id="rId12"/>
    <p:sldId id="265" r:id="rId13"/>
    <p:sldId id="266" r:id="rId14"/>
    <p:sldId id="267" r:id="rId15"/>
    <p:sldId id="268" r:id="rId16"/>
    <p:sldId id="269" r:id="rId17"/>
    <p:sldId id="270" r:id="rId18"/>
    <p:sldId id="271" r:id="rId19"/>
    <p:sldId id="280" r:id="rId20"/>
    <p:sldId id="28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1" d="100"/>
          <a:sy n="81" d="100"/>
        </p:scale>
        <p:origin x="643"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357AC9-B4BA-44F7-9558-9CD0769A9A0A}" type="datetimeFigureOut">
              <a:rPr lang="en-US" smtClean="0"/>
              <a:t>5/2/2024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3186EE-E993-48A3-BFF0-E0AD26E40535}" type="slidenum">
              <a:rPr lang="en-US" smtClean="0"/>
              <a:t>‹#›</a:t>
            </a:fld>
            <a:endParaRPr lang="en-US"/>
          </a:p>
        </p:txBody>
      </p:sp>
    </p:spTree>
    <p:extLst>
      <p:ext uri="{BB962C8B-B14F-4D97-AF65-F5344CB8AC3E}">
        <p14:creationId xmlns:p14="http://schemas.microsoft.com/office/powerpoint/2010/main" val="298496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8459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647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86084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41025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6586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9502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24338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50328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3964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79627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80373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64274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897620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03782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987589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48581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40081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63527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1672805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90103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724325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2234744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745189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1768976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2939408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1183747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2747185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6465915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24931539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096581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818339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6457598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52759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5108706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31995920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2647583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9514790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a:spcBef>
                <a:spcPts val="0"/>
              </a:spcBef>
              <a:spcAft>
                <a:spcPts val="0"/>
              </a:spcAft>
              <a:buSzPts val="7800"/>
              <a:buNone/>
              <a:defRPr b="1"/>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cxnSp>
        <p:nvCxnSpPr>
          <p:cNvPr id="39" name="Google Shape;39;p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0" name="Google Shape;40;p6"/>
          <p:cNvGrpSpPr/>
          <p:nvPr/>
        </p:nvGrpSpPr>
        <p:grpSpPr>
          <a:xfrm>
            <a:off x="-112065" y="192348"/>
            <a:ext cx="12416361" cy="6491851"/>
            <a:chOff x="-211800" y="484698"/>
            <a:chExt cx="23466600" cy="16358864"/>
          </a:xfrm>
        </p:grpSpPr>
        <p:cxnSp>
          <p:nvCxnSpPr>
            <p:cNvPr id="41" name="Google Shape;41;p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42" name="Google Shape;42;p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43" name="Google Shape;43;p6"/>
          <p:cNvPicPr preferRelativeResize="0"/>
          <p:nvPr/>
        </p:nvPicPr>
        <p:blipFill>
          <a:blip r:embed="rId2">
            <a:alphaModFix/>
          </a:blip>
          <a:stretch>
            <a:fillRect/>
          </a:stretch>
        </p:blipFill>
        <p:spPr>
          <a:xfrm rot="-3915739">
            <a:off x="11049298" y="4352016"/>
            <a:ext cx="3367892" cy="493896"/>
          </a:xfrm>
          <a:prstGeom prst="rect">
            <a:avLst/>
          </a:prstGeom>
          <a:noFill/>
          <a:ln>
            <a:noFill/>
          </a:ln>
        </p:spPr>
      </p:pic>
      <p:pic>
        <p:nvPicPr>
          <p:cNvPr id="44" name="Google Shape;44;p6"/>
          <p:cNvPicPr preferRelativeResize="0"/>
          <p:nvPr/>
        </p:nvPicPr>
        <p:blipFill>
          <a:blip r:embed="rId3">
            <a:alphaModFix/>
          </a:blip>
          <a:stretch>
            <a:fillRect/>
          </a:stretch>
        </p:blipFill>
        <p:spPr>
          <a:xfrm>
            <a:off x="-655610" y="1061865"/>
            <a:ext cx="1036562" cy="777439"/>
          </a:xfrm>
          <a:prstGeom prst="rect">
            <a:avLst/>
          </a:prstGeom>
          <a:noFill/>
          <a:ln>
            <a:noFill/>
          </a:ln>
        </p:spPr>
      </p:pic>
    </p:spTree>
    <p:extLst>
      <p:ext uri="{BB962C8B-B14F-4D97-AF65-F5344CB8AC3E}">
        <p14:creationId xmlns:p14="http://schemas.microsoft.com/office/powerpoint/2010/main" val="33756014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372934939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4783280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2355277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40602413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34710513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418066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102"/>
        <p:cNvGrpSpPr/>
        <p:nvPr/>
      </p:nvGrpSpPr>
      <p:grpSpPr>
        <a:xfrm>
          <a:off x="0" y="0"/>
          <a:ext cx="0" cy="0"/>
          <a:chOff x="0" y="0"/>
          <a:chExt cx="0" cy="0"/>
        </a:xfrm>
      </p:grpSpPr>
      <p:sp>
        <p:nvSpPr>
          <p:cNvPr id="103" name="Google Shape;103;p13"/>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04" name="Google Shape;104;p13"/>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05" name="Google Shape;105;p13"/>
          <p:cNvGrpSpPr/>
          <p:nvPr/>
        </p:nvGrpSpPr>
        <p:grpSpPr>
          <a:xfrm>
            <a:off x="-112065" y="192348"/>
            <a:ext cx="12416361" cy="6491851"/>
            <a:chOff x="-211800" y="484698"/>
            <a:chExt cx="23466600" cy="16358864"/>
          </a:xfrm>
        </p:grpSpPr>
        <p:cxnSp>
          <p:nvCxnSpPr>
            <p:cNvPr id="106" name="Google Shape;106;p13"/>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07" name="Google Shape;107;p13"/>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08" name="Google Shape;108;p13"/>
          <p:cNvPicPr preferRelativeResize="0"/>
          <p:nvPr/>
        </p:nvPicPr>
        <p:blipFill>
          <a:blip r:embed="rId2">
            <a:alphaModFix/>
          </a:blip>
          <a:stretch>
            <a:fillRect/>
          </a:stretch>
        </p:blipFill>
        <p:spPr>
          <a:xfrm rot="-3699173">
            <a:off x="-2356759" y="2139648"/>
            <a:ext cx="3367891" cy="493896"/>
          </a:xfrm>
          <a:prstGeom prst="rect">
            <a:avLst/>
          </a:prstGeom>
          <a:noFill/>
          <a:ln>
            <a:noFill/>
          </a:ln>
        </p:spPr>
      </p:pic>
      <p:grpSp>
        <p:nvGrpSpPr>
          <p:cNvPr id="109" name="Google Shape;109;p13"/>
          <p:cNvGrpSpPr/>
          <p:nvPr/>
        </p:nvGrpSpPr>
        <p:grpSpPr>
          <a:xfrm>
            <a:off x="11697916" y="562747"/>
            <a:ext cx="1384204" cy="882871"/>
            <a:chOff x="3089625" y="1360075"/>
            <a:chExt cx="1869050" cy="1589450"/>
          </a:xfrm>
        </p:grpSpPr>
        <p:sp>
          <p:nvSpPr>
            <p:cNvPr id="110" name="Google Shape;110;p13"/>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1" name="Google Shape;111;p13"/>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2" name="Google Shape;112;p13"/>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3" name="Google Shape;113;p13"/>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427678142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1653931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18693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3649247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7204693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181359747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7118813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10" Type="http://schemas.openxmlformats.org/officeDocument/2006/relationships/slideLayout" Target="../slideLayouts/slideLayout26.xml"/><Relationship Id="rId19" Type="http://schemas.openxmlformats.org/officeDocument/2006/relationships/theme" Target="../theme/theme2.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2264609537"/>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6" r:id="rId5"/>
    <p:sldLayoutId id="2147483667" r:id="rId6"/>
    <p:sldLayoutId id="2147483668" r:id="rId7"/>
    <p:sldLayoutId id="2147483669" r:id="rId8"/>
    <p:sldLayoutId id="2147483670" r:id="rId9"/>
    <p:sldLayoutId id="2147483671" r:id="rId10"/>
    <p:sldLayoutId id="2147483673" r:id="rId11"/>
    <p:sldLayoutId id="2147483674" r:id="rId12"/>
    <p:sldLayoutId id="2147483675" r:id="rId13"/>
    <p:sldLayoutId id="2147483676" r:id="rId14"/>
    <p:sldLayoutId id="2147483677" r:id="rId15"/>
    <p:sldLayoutId id="2147483678"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1339962003"/>
      </p:ext>
    </p:extLst>
  </p:cSld>
  <p:clrMap bg1="lt1" tx1="dk1" bg2="dk2" tx2="lt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1.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1.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1.xml"/><Relationship Id="rId4" Type="http://schemas.openxmlformats.org/officeDocument/2006/relationships/image" Target="../media/image27.jpe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3"/>
          <p:cNvSpPr txBox="1">
            <a:spLocks noGrp="1"/>
          </p:cNvSpPr>
          <p:nvPr>
            <p:ph type="ctrTitle"/>
          </p:nvPr>
        </p:nvSpPr>
        <p:spPr>
          <a:xfrm>
            <a:off x="2322278" y="2664317"/>
            <a:ext cx="7547539" cy="1392618"/>
          </a:xfrm>
          <a:prstGeom prst="rect">
            <a:avLst/>
          </a:prstGeom>
        </p:spPr>
        <p:txBody>
          <a:bodyPr spcFirstLastPara="1" wrap="square" lIns="101591" tIns="101591" rIns="101591" bIns="101591" anchor="b" anchorCtr="0">
            <a:noAutofit/>
          </a:bodyPr>
          <a:lstStyle/>
          <a:p>
            <a:r>
              <a:rPr lang="en-US" sz="2600" i="0" dirty="0">
                <a:solidFill>
                  <a:srgbClr val="000000"/>
                </a:solidFill>
                <a:effectLst/>
                <a:latin typeface="Times New Roman" panose="02020603050405020304" pitchFamily="18" charset="0"/>
                <a:cs typeface="Times New Roman" panose="02020603050405020304" pitchFamily="18" charset="0"/>
              </a:rPr>
              <a:t>Improved Waveform Classification for Integrated Radar-Communication 6G Systems via Convolutional Neural Networks</a:t>
            </a:r>
            <a:r>
              <a:rPr lang="en-US" sz="2600" dirty="0">
                <a:latin typeface="Times New Roman" panose="02020603050405020304" pitchFamily="18" charset="0"/>
                <a:cs typeface="Times New Roman" panose="02020603050405020304" pitchFamily="18" charset="0"/>
              </a:rPr>
              <a:t> </a:t>
            </a:r>
            <a:endParaRPr sz="2600" dirty="0">
              <a:latin typeface="Times New Roman" panose="02020603050405020304" pitchFamily="18" charset="0"/>
              <a:cs typeface="Times New Roman" panose="02020603050405020304" pitchFamily="18" charset="0"/>
            </a:endParaRPr>
          </a:p>
        </p:txBody>
      </p:sp>
      <p:sp>
        <p:nvSpPr>
          <p:cNvPr id="221" name="Google Shape;221;p23"/>
          <p:cNvSpPr txBox="1">
            <a:spLocks noGrp="1"/>
          </p:cNvSpPr>
          <p:nvPr>
            <p:ph type="subTitle" idx="1"/>
          </p:nvPr>
        </p:nvSpPr>
        <p:spPr>
          <a:xfrm>
            <a:off x="1419348" y="3925407"/>
            <a:ext cx="9787605" cy="869022"/>
          </a:xfrm>
          <a:prstGeom prst="rect">
            <a:avLst/>
          </a:prstGeom>
        </p:spPr>
        <p:txBody>
          <a:bodyPr spcFirstLastPara="1" wrap="square" lIns="101591" tIns="101591" rIns="101591" bIns="101591" anchor="t" anchorCtr="0">
            <a:noAutofit/>
          </a:bodyPr>
          <a:lstStyle/>
          <a:p>
            <a:r>
              <a:rPr lang="en-US" sz="1800" b="0" i="0" dirty="0">
                <a:solidFill>
                  <a:srgbClr val="0070C0"/>
                </a:solidFill>
                <a:effectLst/>
                <a:latin typeface="NimbusRomNo9L-Regu"/>
              </a:rPr>
              <a:t>Thien Huynh-The,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Nguyen Cong Luong, Hoc Phan,</a:t>
            </a:r>
          </a:p>
          <a:p>
            <a:r>
              <a:rPr lang="en-US" sz="1800" b="0" i="0" dirty="0">
                <a:solidFill>
                  <a:srgbClr val="0070C0"/>
                </a:solidFill>
                <a:effectLst/>
                <a:latin typeface="NimbusRomNo9L-Regu"/>
              </a:rPr>
              <a:t>Daniel </a:t>
            </a:r>
            <a:r>
              <a:rPr lang="en-US" sz="1800" b="0" i="0" dirty="0" err="1">
                <a:solidFill>
                  <a:srgbClr val="0070C0"/>
                </a:solidFill>
                <a:effectLst/>
                <a:latin typeface="NimbusRomNo9L-Regu"/>
              </a:rPr>
              <a:t>Benevides</a:t>
            </a:r>
            <a:r>
              <a:rPr lang="en-US" sz="1800" b="0" i="0" dirty="0">
                <a:solidFill>
                  <a:srgbClr val="0070C0"/>
                </a:solidFill>
                <a:effectLst/>
                <a:latin typeface="NimbusRomNo9L-Regu"/>
              </a:rPr>
              <a:t> da Costa,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and Quoc-Viet Pham, </a:t>
            </a:r>
            <a:r>
              <a:rPr lang="en-US" sz="1800" b="0" i="1" dirty="0">
                <a:solidFill>
                  <a:srgbClr val="0070C0"/>
                </a:solidFill>
                <a:effectLst/>
                <a:latin typeface="NimbusRomNo9L-ReguItal"/>
              </a:rPr>
              <a:t>Senior Member, IEEE</a:t>
            </a:r>
            <a:r>
              <a:rPr lang="en-US" dirty="0">
                <a:solidFill>
                  <a:srgbClr val="0070C0"/>
                </a:solidFill>
              </a:rPr>
              <a:t> </a:t>
            </a:r>
            <a:br>
              <a:rPr lang="en-US" dirty="0">
                <a:solidFill>
                  <a:srgbClr val="0070C0"/>
                </a:solidFill>
              </a:rPr>
            </a:br>
            <a:endParaRPr dirty="0">
              <a:solidFill>
                <a:srgbClr val="0070C0"/>
              </a:solidFill>
            </a:endParaRPr>
          </a:p>
        </p:txBody>
      </p:sp>
      <p:pic>
        <p:nvPicPr>
          <p:cNvPr id="256" name="Google Shape;256;p23"/>
          <p:cNvPicPr preferRelativeResize="0"/>
          <p:nvPr/>
        </p:nvPicPr>
        <p:blipFill>
          <a:blip r:embed="rId3">
            <a:alphaModFix/>
          </a:blip>
          <a:stretch>
            <a:fillRect/>
          </a:stretch>
        </p:blipFill>
        <p:spPr>
          <a:xfrm>
            <a:off x="9869817" y="5298103"/>
            <a:ext cx="777439" cy="777439"/>
          </a:xfrm>
          <a:prstGeom prst="rect">
            <a:avLst/>
          </a:prstGeom>
          <a:noFill/>
          <a:ln>
            <a:noFill/>
          </a:ln>
        </p:spPr>
      </p:pic>
      <p:pic>
        <p:nvPicPr>
          <p:cNvPr id="257" name="Google Shape;257;p23"/>
          <p:cNvPicPr preferRelativeResize="0"/>
          <p:nvPr/>
        </p:nvPicPr>
        <p:blipFill>
          <a:blip r:embed="rId3">
            <a:alphaModFix/>
          </a:blip>
          <a:stretch>
            <a:fillRect/>
          </a:stretch>
        </p:blipFill>
        <p:spPr>
          <a:xfrm>
            <a:off x="8750198" y="5776243"/>
            <a:ext cx="777439" cy="777439"/>
          </a:xfrm>
          <a:prstGeom prst="rect">
            <a:avLst/>
          </a:prstGeom>
          <a:noFill/>
          <a:ln>
            <a:noFill/>
          </a:ln>
        </p:spPr>
      </p:pic>
      <p:pic>
        <p:nvPicPr>
          <p:cNvPr id="258" name="Google Shape;258;p23"/>
          <p:cNvPicPr preferRelativeResize="0"/>
          <p:nvPr/>
        </p:nvPicPr>
        <p:blipFill>
          <a:blip r:embed="rId4">
            <a:alphaModFix/>
          </a:blip>
          <a:stretch>
            <a:fillRect/>
          </a:stretch>
        </p:blipFill>
        <p:spPr>
          <a:xfrm rot="-4131429">
            <a:off x="-560268" y="4298140"/>
            <a:ext cx="3367892" cy="370430"/>
          </a:xfrm>
          <a:prstGeom prst="rect">
            <a:avLst/>
          </a:prstGeom>
          <a:noFill/>
          <a:ln>
            <a:noFill/>
          </a:ln>
        </p:spPr>
      </p:pic>
      <p:grpSp>
        <p:nvGrpSpPr>
          <p:cNvPr id="259" name="Google Shape;259;p23"/>
          <p:cNvGrpSpPr/>
          <p:nvPr/>
        </p:nvGrpSpPr>
        <p:grpSpPr>
          <a:xfrm>
            <a:off x="8521540" y="5551890"/>
            <a:ext cx="1038154" cy="1047303"/>
            <a:chOff x="255550" y="1284450"/>
            <a:chExt cx="2544550" cy="2566975"/>
          </a:xfrm>
        </p:grpSpPr>
        <p:sp>
          <p:nvSpPr>
            <p:cNvPr id="260" name="Google Shape;260;p23"/>
            <p:cNvSpPr/>
            <p:nvPr/>
          </p:nvSpPr>
          <p:spPr>
            <a:xfrm>
              <a:off x="1771050" y="1284450"/>
              <a:ext cx="1029050" cy="2353850"/>
            </a:xfrm>
            <a:custGeom>
              <a:avLst/>
              <a:gdLst/>
              <a:ahLst/>
              <a:cxnLst/>
              <a:rect l="l" t="t" r="r" b="b"/>
              <a:pathLst>
                <a:path w="41162" h="94154" extrusionOk="0">
                  <a:moveTo>
                    <a:pt x="5501" y="1"/>
                  </a:moveTo>
                  <a:lnTo>
                    <a:pt x="1" y="61484"/>
                  </a:lnTo>
                  <a:lnTo>
                    <a:pt x="35645" y="94153"/>
                  </a:lnTo>
                  <a:lnTo>
                    <a:pt x="41162" y="32670"/>
                  </a:lnTo>
                  <a:lnTo>
                    <a:pt x="550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1" name="Google Shape;261;p23"/>
            <p:cNvSpPr/>
            <p:nvPr/>
          </p:nvSpPr>
          <p:spPr>
            <a:xfrm>
              <a:off x="1766475" y="1289850"/>
              <a:ext cx="1028225" cy="2344300"/>
            </a:xfrm>
            <a:custGeom>
              <a:avLst/>
              <a:gdLst/>
              <a:ahLst/>
              <a:cxnLst/>
              <a:rect l="l" t="t" r="r" b="b"/>
              <a:pathLst>
                <a:path w="41129" h="93772" extrusionOk="0">
                  <a:moveTo>
                    <a:pt x="5468" y="1"/>
                  </a:moveTo>
                  <a:lnTo>
                    <a:pt x="1" y="61102"/>
                  </a:lnTo>
                  <a:lnTo>
                    <a:pt x="35661" y="93771"/>
                  </a:lnTo>
                  <a:lnTo>
                    <a:pt x="41128"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2" name="Google Shape;262;p23"/>
            <p:cNvSpPr/>
            <p:nvPr/>
          </p:nvSpPr>
          <p:spPr>
            <a:xfrm>
              <a:off x="255550" y="2821550"/>
              <a:ext cx="2406625" cy="1029875"/>
            </a:xfrm>
            <a:custGeom>
              <a:avLst/>
              <a:gdLst/>
              <a:ahLst/>
              <a:cxnLst/>
              <a:rect l="l" t="t" r="r" b="b"/>
              <a:pathLst>
                <a:path w="96265" h="41195" extrusionOk="0">
                  <a:moveTo>
                    <a:pt x="60621" y="0"/>
                  </a:moveTo>
                  <a:lnTo>
                    <a:pt x="1" y="8525"/>
                  </a:lnTo>
                  <a:lnTo>
                    <a:pt x="35662" y="41194"/>
                  </a:lnTo>
                  <a:lnTo>
                    <a:pt x="96265" y="32669"/>
                  </a:lnTo>
                  <a:lnTo>
                    <a:pt x="60621" y="0"/>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3" name="Google Shape;263;p23"/>
            <p:cNvSpPr/>
            <p:nvPr/>
          </p:nvSpPr>
          <p:spPr>
            <a:xfrm>
              <a:off x="260950" y="2817375"/>
              <a:ext cx="2397075" cy="1028225"/>
            </a:xfrm>
            <a:custGeom>
              <a:avLst/>
              <a:gdLst/>
              <a:ahLst/>
              <a:cxnLst/>
              <a:rect l="l" t="t" r="r" b="b"/>
              <a:pathLst>
                <a:path w="95883" h="41129" extrusionOk="0">
                  <a:moveTo>
                    <a:pt x="60222" y="1"/>
                  </a:moveTo>
                  <a:lnTo>
                    <a:pt x="1" y="8459"/>
                  </a:lnTo>
                  <a:lnTo>
                    <a:pt x="35662" y="41128"/>
                  </a:lnTo>
                  <a:lnTo>
                    <a:pt x="95882" y="32670"/>
                  </a:lnTo>
                  <a:lnTo>
                    <a:pt x="60222"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4" name="Google Shape;264;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5" name="Google Shape;265;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6" name="Google Shape;266;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7" name="Google Shape;267;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sp>
        <p:nvSpPr>
          <p:cNvPr id="4" name="TextBox 3">
            <a:extLst>
              <a:ext uri="{FF2B5EF4-FFF2-40B4-BE49-F238E27FC236}">
                <a16:creationId xmlns:a16="http://schemas.microsoft.com/office/drawing/2014/main" id="{74D239A9-D653-CBEE-FD0A-E77703521CAB}"/>
              </a:ext>
            </a:extLst>
          </p:cNvPr>
          <p:cNvSpPr txBox="1"/>
          <p:nvPr/>
        </p:nvSpPr>
        <p:spPr>
          <a:xfrm>
            <a:off x="4592920" y="4880498"/>
            <a:ext cx="3924928" cy="923330"/>
          </a:xfrm>
          <a:prstGeom prst="rect">
            <a:avLst/>
          </a:prstGeom>
          <a:noFill/>
        </p:spPr>
        <p:txBody>
          <a:bodyPr wrap="square">
            <a:spAutoFit/>
          </a:bodyPr>
          <a:lstStyle/>
          <a:p>
            <a:r>
              <a:rPr lang="en-US" b="1" dirty="0">
                <a:solidFill>
                  <a:srgbClr val="002060"/>
                </a:solidFill>
              </a:rPr>
              <a:t>Presentation: Huan Nguyen-Duy</a:t>
            </a:r>
          </a:p>
          <a:p>
            <a:r>
              <a:rPr lang="en-US" b="1" dirty="0">
                <a:solidFill>
                  <a:srgbClr val="002060"/>
                </a:solidFill>
              </a:rPr>
              <a:t>Student ID: 2390703</a:t>
            </a:r>
          </a:p>
          <a:p>
            <a:r>
              <a:rPr lang="en-US" b="1" dirty="0">
                <a:solidFill>
                  <a:srgbClr val="002060"/>
                </a:solidFill>
              </a:rPr>
              <a:t>Supervisor: </a:t>
            </a:r>
            <a:r>
              <a:rPr lang="en-US" b="1" dirty="0" err="1">
                <a:solidFill>
                  <a:srgbClr val="002060"/>
                </a:solidFill>
              </a:rPr>
              <a:t>Dr.Tan</a:t>
            </a:r>
            <a:r>
              <a:rPr lang="en-US" b="1" dirty="0">
                <a:solidFill>
                  <a:srgbClr val="002060"/>
                </a:solidFill>
              </a:rPr>
              <a:t> Do-Duy</a:t>
            </a:r>
          </a:p>
        </p:txBody>
      </p:sp>
      <p:pic>
        <p:nvPicPr>
          <p:cNvPr id="1028" name="Picture 4" descr="Khảo sát HCMUTE">
            <a:extLst>
              <a:ext uri="{FF2B5EF4-FFF2-40B4-BE49-F238E27FC236}">
                <a16:creationId xmlns:a16="http://schemas.microsoft.com/office/drawing/2014/main" id="{67F5956A-F32B-415E-D07F-1C170CEC69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70142" y="258807"/>
            <a:ext cx="5051715" cy="227759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Preview</a:t>
            </a:r>
            <a:endParaRPr sz="2800" dirty="0"/>
          </a:p>
        </p:txBody>
      </p:sp>
      <p:graphicFrame>
        <p:nvGraphicFramePr>
          <p:cNvPr id="273" name="Google Shape;273;p24"/>
          <p:cNvGraphicFramePr/>
          <p:nvPr>
            <p:extLst>
              <p:ext uri="{D42A27DB-BD31-4B8C-83A1-F6EECF244321}">
                <p14:modId xmlns:p14="http://schemas.microsoft.com/office/powerpoint/2010/main" val="2148429617"/>
              </p:ext>
            </p:extLst>
          </p:nvPr>
        </p:nvGraphicFramePr>
        <p:xfrm>
          <a:off x="1036320" y="932010"/>
          <a:ext cx="10119360" cy="5763625"/>
        </p:xfrm>
        <a:graphic>
          <a:graphicData uri="http://schemas.openxmlformats.org/drawingml/2006/table">
            <a:tbl>
              <a:tblPr>
                <a:noFill/>
              </a:tblPr>
              <a:tblGrid>
                <a:gridCol w="3058900">
                  <a:extLst>
                    <a:ext uri="{9D8B030D-6E8A-4147-A177-3AD203B41FA5}">
                      <a16:colId xmlns:a16="http://schemas.microsoft.com/office/drawing/2014/main" val="20000"/>
                    </a:ext>
                  </a:extLst>
                </a:gridCol>
                <a:gridCol w="7060460">
                  <a:extLst>
                    <a:ext uri="{9D8B030D-6E8A-4147-A177-3AD203B41FA5}">
                      <a16:colId xmlns:a16="http://schemas.microsoft.com/office/drawing/2014/main" val="20001"/>
                    </a:ext>
                  </a:extLst>
                </a:gridCol>
              </a:tblGrid>
              <a:tr h="320782">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IEEE EPLORE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dirty="0">
                          <a:solidFill>
                            <a:srgbClr val="FF0000"/>
                          </a:solidFill>
                          <a:latin typeface="Space Mono"/>
                          <a:ea typeface="Space Mono"/>
                          <a:cs typeface="Space Mono"/>
                          <a:sym typeface="Space Mono"/>
                        </a:rPr>
                        <a:t>Journals &amp; Magazine</a:t>
                      </a:r>
                      <a:endParaRPr sz="1400" dirty="0">
                        <a:solidFill>
                          <a:srgbClr val="FF0000"/>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31256">
                <a:tc>
                  <a:txBody>
                    <a:bodyPr/>
                    <a:lstStyle/>
                    <a:p>
                      <a:pPr marL="0" lvl="0" indent="0" algn="l" rtl="0">
                        <a:spcBef>
                          <a:spcPts val="0"/>
                        </a:spcBef>
                        <a:spcAft>
                          <a:spcPts val="0"/>
                        </a:spcAft>
                        <a:buNone/>
                      </a:pPr>
                      <a:r>
                        <a:rPr lang="en-US" sz="1400" b="1" dirty="0">
                          <a:solidFill>
                            <a:schemeClr val="dk1"/>
                          </a:solidFill>
                          <a:latin typeface="Space Mono"/>
                          <a:ea typeface="Space Mono"/>
                          <a:cs typeface="Space Mono"/>
                          <a:sym typeface="Space Mono"/>
                        </a:rPr>
                        <a:t>IEEE Transactions on Vehicular Technology</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US" sz="1400" dirty="0">
                          <a:solidFill>
                            <a:srgbClr val="0070C0"/>
                          </a:solidFill>
                          <a:latin typeface="Space Mono"/>
                          <a:ea typeface="Space Mono"/>
                          <a:cs typeface="Space Mono"/>
                          <a:sym typeface="Space Mono"/>
                        </a:rPr>
                        <a:t>Improved Waveform Classification for Integrated Radar-Communication 6 G Systems Via Convolutional Neural Networks</a:t>
                      </a:r>
                      <a:endParaRPr sz="1400" dirty="0">
                        <a:solidFill>
                          <a:srgbClr val="0070C0"/>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628642">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Cite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dirty="0">
                          <a:solidFill>
                            <a:schemeClr val="dk1"/>
                          </a:solidFill>
                          <a:latin typeface="Space Mono"/>
                          <a:ea typeface="Space Mono"/>
                          <a:cs typeface="Space Mono"/>
                          <a:sym typeface="Space Mono"/>
                        </a:rPr>
                        <a:t>T. Huynh-The, N. C. Luong, H. Phan, D. B. da Costa and Q. -V. Pham, "Improved Waveform Classification for Integrated Radar-Communication 6 G Systems Via Convolutional Neural Networks," in IEEE Transactions on Vehicular Technology, doi: 10.1109/TVT.2024.3384918.</a:t>
                      </a:r>
                      <a:endParaRPr sz="14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20782">
                <a:tc>
                  <a:txBody>
                    <a:bodyPr/>
                    <a:lstStyle/>
                    <a:p>
                      <a:pPr marL="0" lvl="0" indent="0" algn="l" rtl="0">
                        <a:spcBef>
                          <a:spcPts val="0"/>
                        </a:spcBef>
                        <a:spcAft>
                          <a:spcPts val="0"/>
                        </a:spcAft>
                        <a:buNone/>
                      </a:pPr>
                      <a:r>
                        <a:rPr lang="en-US" sz="1400" b="1" dirty="0">
                          <a:solidFill>
                            <a:schemeClr val="hlink"/>
                          </a:solidFill>
                          <a:uFill>
                            <a:noFill/>
                          </a:uFill>
                          <a:latin typeface="Space Mono"/>
                          <a:ea typeface="Space Mono"/>
                          <a:cs typeface="Space Mono"/>
                          <a:sym typeface="Space Mono"/>
                        </a:rPr>
                        <a:t>Date of Publication</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solidFill>
                            <a:schemeClr val="dk1"/>
                          </a:solidFill>
                          <a:latin typeface="Space Mono"/>
                          <a:ea typeface="Space Mono"/>
                          <a:cs typeface="Space Mono"/>
                          <a:sym typeface="Space Mono"/>
                        </a:rPr>
                        <a:t>04 April 2024</a:t>
                      </a:r>
                      <a:endParaRPr sz="14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050725">
                <a:tc>
                  <a:txBody>
                    <a:bodyPr/>
                    <a:lstStyle/>
                    <a:p>
                      <a:pPr marL="0" lvl="0" indent="0" algn="l" rtl="0">
                        <a:spcBef>
                          <a:spcPts val="0"/>
                        </a:spcBef>
                        <a:spcAft>
                          <a:spcPts val="0"/>
                        </a:spcAft>
                        <a:buNone/>
                      </a:pPr>
                      <a:r>
                        <a:rPr lang="en" sz="1400" b="1" dirty="0">
                          <a:solidFill>
                            <a:schemeClr val="dk1"/>
                          </a:solidFill>
                          <a:latin typeface="Space Mono"/>
                          <a:ea typeface="Space Mono"/>
                          <a:cs typeface="Space Mono"/>
                          <a:sym typeface="Space Mono"/>
                        </a:rPr>
                        <a:t>Authors</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Thien Huynh-The</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Nguyen Cong Luong</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Faculty of Computer Science, </a:t>
                      </a:r>
                      <a:r>
                        <a:rPr lang="en-US" sz="1400" dirty="0" err="1">
                          <a:solidFill>
                            <a:schemeClr val="dk1"/>
                          </a:solidFill>
                          <a:latin typeface="Space Mono"/>
                          <a:ea typeface="Space Mono"/>
                          <a:cs typeface="Space Mono"/>
                          <a:sym typeface="Space Mono"/>
                        </a:rPr>
                        <a:t>Phenikaa</a:t>
                      </a:r>
                      <a:r>
                        <a:rPr lang="en-US" sz="1400" dirty="0">
                          <a:solidFill>
                            <a:schemeClr val="dk1"/>
                          </a:solidFill>
                          <a:latin typeface="Space Mono"/>
                          <a:ea typeface="Space Mono"/>
                          <a:cs typeface="Space Mono"/>
                          <a:sym typeface="Space Mono"/>
                        </a:rPr>
                        <a:t> University,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Hoc Phan</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Daniel </a:t>
                      </a:r>
                      <a:r>
                        <a:rPr lang="en-US" sz="1400" b="1" dirty="0" err="1">
                          <a:solidFill>
                            <a:srgbClr val="0070C0"/>
                          </a:solidFill>
                          <a:latin typeface="Space Mono"/>
                          <a:ea typeface="Space Mono"/>
                          <a:cs typeface="Space Mono"/>
                          <a:sym typeface="Space Mono"/>
                        </a:rPr>
                        <a:t>Benevides</a:t>
                      </a:r>
                      <a:r>
                        <a:rPr lang="en-US" sz="1400" b="1" dirty="0">
                          <a:solidFill>
                            <a:srgbClr val="0070C0"/>
                          </a:solidFill>
                          <a:latin typeface="Space Mono"/>
                          <a:ea typeface="Space Mono"/>
                          <a:cs typeface="Space Mono"/>
                          <a:sym typeface="Space Mono"/>
                        </a:rPr>
                        <a:t> da Costa</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Electrical Engineering, King Fahd University of Petroleum &amp; Minerals, Dhahran, Saudi Arabia</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Quoc-Viet Pham</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School of Computer Science and Statistics, Trinity College Dublin, Ireland</a:t>
                      </a: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ABSTRACT</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5" name="TextBox 4">
            <a:extLst>
              <a:ext uri="{FF2B5EF4-FFF2-40B4-BE49-F238E27FC236}">
                <a16:creationId xmlns:a16="http://schemas.microsoft.com/office/drawing/2014/main" id="{61FC6890-3ECF-6A8C-93B8-BD7D88547BD6}"/>
              </a:ext>
            </a:extLst>
          </p:cNvPr>
          <p:cNvSpPr txBox="1"/>
          <p:nvPr/>
        </p:nvSpPr>
        <p:spPr>
          <a:xfrm>
            <a:off x="805180" y="953146"/>
            <a:ext cx="10581640" cy="3693319"/>
          </a:xfrm>
          <a:prstGeom prst="rect">
            <a:avLst/>
          </a:prstGeom>
          <a:noFill/>
        </p:spPr>
        <p:txBody>
          <a:bodyPr wrap="square">
            <a:spAutoFit/>
          </a:bodyPr>
          <a:lstStyle/>
          <a:p>
            <a:pPr algn="just"/>
            <a:r>
              <a:rPr lang="en-US" dirty="0"/>
              <a:t>To overcome the spectrum congestion problem in next-generation wireless networks, an integrated radar-communication system with spectrum sharing becomes a promising solution, wherein radar and communication signals can be discriminated by means of modulated waveforms. </a:t>
            </a:r>
            <a:r>
              <a:rPr lang="en-US" dirty="0">
                <a:highlight>
                  <a:srgbClr val="FFFF00"/>
                </a:highlight>
              </a:rPr>
              <a:t>This letter presents an efficient radar-communication waveform classification method by taking advantage of the combination of smooth pseudo Wigner-Ville distribution-based time-frequency analysis and deep learning to achieve a good trade-off between complexity and accuracy</a:t>
            </a:r>
            <a:r>
              <a:rPr lang="en-US" dirty="0"/>
              <a:t>. To this end, a high-performance convolutional network, namely the radar-communication waveform recognition network (</a:t>
            </a:r>
            <a:r>
              <a:rPr lang="en-US" dirty="0" err="1"/>
              <a:t>RadComNet</a:t>
            </a:r>
            <a:r>
              <a:rPr lang="en-US" dirty="0"/>
              <a:t>), is designed with multiple cutting-edge techniques and advanced structures, including </a:t>
            </a:r>
            <a:r>
              <a:rPr lang="en-US" dirty="0" err="1"/>
              <a:t>depthwise</a:t>
            </a:r>
            <a:r>
              <a:rPr lang="en-US" dirty="0"/>
              <a:t> convolution for complexity reduction and residual connection and multi-level attention mechanisms for learning efficiency enhancement. Relying on the simulation results acquired on a synthetic signal dataset of 12 radar and communication waveform types with the presence of channel impairments, our proposed method shows superiority over other classification approaches and deep models in terms of accuracy and complexity.</a:t>
            </a:r>
          </a:p>
        </p:txBody>
      </p:sp>
    </p:spTree>
    <p:extLst>
      <p:ext uri="{BB962C8B-B14F-4D97-AF65-F5344CB8AC3E}">
        <p14:creationId xmlns:p14="http://schemas.microsoft.com/office/powerpoint/2010/main" val="12700875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OUTLINE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4" name="TextBox 3">
            <a:extLst>
              <a:ext uri="{FF2B5EF4-FFF2-40B4-BE49-F238E27FC236}">
                <a16:creationId xmlns:a16="http://schemas.microsoft.com/office/drawing/2014/main" id="{FC090FE4-2795-5216-68DC-B96DDADA3370}"/>
              </a:ext>
            </a:extLst>
          </p:cNvPr>
          <p:cNvSpPr txBox="1"/>
          <p:nvPr/>
        </p:nvSpPr>
        <p:spPr>
          <a:xfrm>
            <a:off x="947420" y="864355"/>
            <a:ext cx="4518660" cy="5129289"/>
          </a:xfrm>
          <a:prstGeom prst="rect">
            <a:avLst/>
          </a:prstGeom>
          <a:noFill/>
        </p:spPr>
        <p:txBody>
          <a:bodyPr wrap="square">
            <a:spAutoFit/>
          </a:bodyPr>
          <a:lstStyle/>
          <a:p>
            <a:pPr marL="285750" indent="-285750" algn="just">
              <a:lnSpc>
                <a:spcPct val="200000"/>
              </a:lnSpc>
              <a:buFont typeface="Wingdings" panose="05000000000000000000" pitchFamily="2" charset="2"/>
              <a:buChar char="q"/>
            </a:pPr>
            <a:r>
              <a:rPr lang="en-US" sz="2800" b="1" dirty="0">
                <a:latin typeface="Space Mono" panose="020B0604020202020204" charset="0"/>
              </a:rPr>
              <a:t>MOTIVATION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CONTRIBUTION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INTRODUCTION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SOLUTION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EVALUTION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CONCLUSION</a:t>
            </a:r>
          </a:p>
        </p:txBody>
      </p:sp>
      <p:pic>
        <p:nvPicPr>
          <p:cNvPr id="6" name="Picture 5">
            <a:extLst>
              <a:ext uri="{FF2B5EF4-FFF2-40B4-BE49-F238E27FC236}">
                <a16:creationId xmlns:a16="http://schemas.microsoft.com/office/drawing/2014/main" id="{E438F8F7-44DD-A48A-3227-9E7786A373F0}"/>
              </a:ext>
            </a:extLst>
          </p:cNvPr>
          <p:cNvPicPr>
            <a:picLocks noChangeAspect="1"/>
          </p:cNvPicPr>
          <p:nvPr/>
        </p:nvPicPr>
        <p:blipFill>
          <a:blip r:embed="rId3"/>
          <a:stretch>
            <a:fillRect/>
          </a:stretch>
        </p:blipFill>
        <p:spPr>
          <a:xfrm>
            <a:off x="6296271" y="932010"/>
            <a:ext cx="4890313" cy="1411576"/>
          </a:xfrm>
          <a:prstGeom prst="rect">
            <a:avLst/>
          </a:prstGeom>
        </p:spPr>
      </p:pic>
      <p:pic>
        <p:nvPicPr>
          <p:cNvPr id="7" name="Picture 6">
            <a:extLst>
              <a:ext uri="{FF2B5EF4-FFF2-40B4-BE49-F238E27FC236}">
                <a16:creationId xmlns:a16="http://schemas.microsoft.com/office/drawing/2014/main" id="{1FA76C84-29AD-0266-FD8C-3E750D4D5992}"/>
              </a:ext>
            </a:extLst>
          </p:cNvPr>
          <p:cNvPicPr>
            <a:picLocks noChangeAspect="1"/>
          </p:cNvPicPr>
          <p:nvPr/>
        </p:nvPicPr>
        <p:blipFill>
          <a:blip r:embed="rId4"/>
          <a:stretch>
            <a:fillRect/>
          </a:stretch>
        </p:blipFill>
        <p:spPr>
          <a:xfrm>
            <a:off x="6337083" y="2406418"/>
            <a:ext cx="3148429" cy="2229368"/>
          </a:xfrm>
          <a:prstGeom prst="rect">
            <a:avLst/>
          </a:prstGeom>
        </p:spPr>
      </p:pic>
      <p:pic>
        <p:nvPicPr>
          <p:cNvPr id="8" name="Picture 7">
            <a:extLst>
              <a:ext uri="{FF2B5EF4-FFF2-40B4-BE49-F238E27FC236}">
                <a16:creationId xmlns:a16="http://schemas.microsoft.com/office/drawing/2014/main" id="{5DC11FD1-94D2-CACD-126D-F53FEBF60B9C}"/>
              </a:ext>
            </a:extLst>
          </p:cNvPr>
          <p:cNvPicPr>
            <a:picLocks noChangeAspect="1"/>
          </p:cNvPicPr>
          <p:nvPr/>
        </p:nvPicPr>
        <p:blipFill>
          <a:blip r:embed="rId5"/>
          <a:stretch>
            <a:fillRect/>
          </a:stretch>
        </p:blipFill>
        <p:spPr>
          <a:xfrm>
            <a:off x="6296271" y="4680478"/>
            <a:ext cx="4890312" cy="1914337"/>
          </a:xfrm>
          <a:prstGeom prst="rect">
            <a:avLst/>
          </a:prstGeom>
        </p:spPr>
      </p:pic>
    </p:spTree>
    <p:extLst>
      <p:ext uri="{BB962C8B-B14F-4D97-AF65-F5344CB8AC3E}">
        <p14:creationId xmlns:p14="http://schemas.microsoft.com/office/powerpoint/2010/main" val="1169462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MOTIVATION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947420" y="804766"/>
            <a:ext cx="10472420" cy="557530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Reality and Demand in next 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wide bandwidths for high performance in the next-generation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accurately identified and classified types of spectrum base on waveform in limited resource.</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Recognition radar waveform in autonomous vehicles that requires highly accurate detection in limited resource.</a:t>
            </a:r>
          </a:p>
          <a:p>
            <a:pPr marL="342900" indent="-342900" algn="just">
              <a:lnSpc>
                <a:spcPct val="150000"/>
              </a:lnSpc>
              <a:buFont typeface="Wingdings" panose="05000000000000000000" pitchFamily="2" charset="2"/>
              <a:buChar char="q"/>
            </a:pPr>
            <a:r>
              <a:rPr lang="en-US" sz="2000" b="1" dirty="0">
                <a:latin typeface="Space Mono" panose="020B0604020202020204" charset="0"/>
              </a:rPr>
              <a:t>Solution for recognition and classification waveform</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Deep learning is exploited for radar recognition and communication modulation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Proposing solution to reduce the size of deep learning network to reach highly accuracy and performance that have ability to deploy in limited resource devices.</a:t>
            </a:r>
          </a:p>
        </p:txBody>
      </p:sp>
    </p:spTree>
    <p:extLst>
      <p:ext uri="{BB962C8B-B14F-4D97-AF65-F5344CB8AC3E}">
        <p14:creationId xmlns:p14="http://schemas.microsoft.com/office/powerpoint/2010/main" val="37141225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CONTRIBUTION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859790" y="1146056"/>
            <a:ext cx="10472420" cy="465197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The smooth pseudo WVD (SPWVD) recognition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De-composing a signal into high-resolution time-frequency representation.</a:t>
            </a:r>
          </a:p>
          <a:p>
            <a:pPr marL="342900" indent="-342900" algn="just">
              <a:lnSpc>
                <a:spcPct val="150000"/>
              </a:lnSpc>
              <a:buFont typeface="Wingdings" panose="05000000000000000000" pitchFamily="2" charset="2"/>
              <a:buChar char="q"/>
            </a:pPr>
            <a:r>
              <a:rPr lang="en-US" sz="2000" b="1" dirty="0">
                <a:latin typeface="Space Mono" panose="020B0604020202020204" charset="0"/>
              </a:rPr>
              <a:t>Waveform-based radar and communication signal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Design a deep learning network that utilizes cutting edge deep learning architecture.</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Applying modern connection structure (depth-wise convolution, residual connection, and attention mechanism)</a:t>
            </a:r>
          </a:p>
          <a:p>
            <a:pPr marL="342900" indent="-342900" algn="just">
              <a:lnSpc>
                <a:spcPct val="150000"/>
              </a:lnSpc>
              <a:buFont typeface="Wingdings" panose="05000000000000000000" pitchFamily="2" charset="2"/>
              <a:buChar char="q"/>
            </a:pPr>
            <a:r>
              <a:rPr lang="en-US" sz="2000" b="1" dirty="0">
                <a:latin typeface="Space Mono" panose="020B0604020202020204" charset="0"/>
              </a:rPr>
              <a:t>Performance evaluation by Mat-Lab simulation tool</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Generating a synthetic signal data set that comprise 12 radar and communication types.</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Proposing deep model that reduces complexity and increase accuracy.</a:t>
            </a:r>
          </a:p>
        </p:txBody>
      </p:sp>
    </p:spTree>
    <p:extLst>
      <p:ext uri="{BB962C8B-B14F-4D97-AF65-F5344CB8AC3E}">
        <p14:creationId xmlns:p14="http://schemas.microsoft.com/office/powerpoint/2010/main" val="268103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Overview</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processing framework of our proposed DL-Based waveform recognition in radar-communication</a:t>
            </a:r>
          </a:p>
        </p:txBody>
      </p:sp>
      <p:pic>
        <p:nvPicPr>
          <p:cNvPr id="7" name="Picture 6">
            <a:extLst>
              <a:ext uri="{FF2B5EF4-FFF2-40B4-BE49-F238E27FC236}">
                <a16:creationId xmlns:a16="http://schemas.microsoft.com/office/drawing/2014/main" id="{5ACCB6F6-E618-43D6-E7E6-5FFB2DFBE237}"/>
              </a:ext>
            </a:extLst>
          </p:cNvPr>
          <p:cNvPicPr>
            <a:picLocks noChangeAspect="1"/>
          </p:cNvPicPr>
          <p:nvPr/>
        </p:nvPicPr>
        <p:blipFill>
          <a:blip r:embed="rId3"/>
          <a:stretch>
            <a:fillRect/>
          </a:stretch>
        </p:blipFill>
        <p:spPr>
          <a:xfrm>
            <a:off x="428828" y="2439910"/>
            <a:ext cx="11334344" cy="3386537"/>
          </a:xfrm>
          <a:prstGeom prst="rect">
            <a:avLst/>
          </a:prstGeom>
        </p:spPr>
      </p:pic>
    </p:spTree>
    <p:extLst>
      <p:ext uri="{BB962C8B-B14F-4D97-AF65-F5344CB8AC3E}">
        <p14:creationId xmlns:p14="http://schemas.microsoft.com/office/powerpoint/2010/main" val="16400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079762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360371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546994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Time Frequency analysis (TFA)</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energy spectrum in frequency is given by:</a:t>
            </a:r>
          </a:p>
        </p:txBody>
      </p:sp>
      <p:pic>
        <p:nvPicPr>
          <p:cNvPr id="2" name="Picture 1">
            <a:extLst>
              <a:ext uri="{FF2B5EF4-FFF2-40B4-BE49-F238E27FC236}">
                <a16:creationId xmlns:a16="http://schemas.microsoft.com/office/drawing/2014/main" id="{65A8E4DE-3F88-703F-FE6E-7EABCEA7C22C}"/>
              </a:ext>
            </a:extLst>
          </p:cNvPr>
          <p:cNvPicPr>
            <a:picLocks noChangeAspect="1"/>
          </p:cNvPicPr>
          <p:nvPr/>
        </p:nvPicPr>
        <p:blipFill>
          <a:blip r:embed="rId3"/>
          <a:stretch>
            <a:fillRect/>
          </a:stretch>
        </p:blipFill>
        <p:spPr>
          <a:xfrm>
            <a:off x="1439844" y="2638315"/>
            <a:ext cx="7039957" cy="790685"/>
          </a:xfrm>
          <a:prstGeom prst="rect">
            <a:avLst/>
          </a:prstGeom>
        </p:spPr>
      </p:pic>
      <p:sp>
        <p:nvSpPr>
          <p:cNvPr id="7" name="Google Shape;272;p24">
            <a:extLst>
              <a:ext uri="{FF2B5EF4-FFF2-40B4-BE49-F238E27FC236}">
                <a16:creationId xmlns:a16="http://schemas.microsoft.com/office/drawing/2014/main" id="{0CBC2774-2A0D-5E77-8AB4-7AD20446F292}"/>
              </a:ext>
            </a:extLst>
          </p:cNvPr>
          <p:cNvSpPr txBox="1">
            <a:spLocks/>
          </p:cNvSpPr>
          <p:nvPr/>
        </p:nvSpPr>
        <p:spPr>
          <a:xfrm>
            <a:off x="8479801" y="2821050"/>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S(t) denote for continuous signal</a:t>
            </a:r>
          </a:p>
        </p:txBody>
      </p:sp>
      <p:sp>
        <p:nvSpPr>
          <p:cNvPr id="6" name="Google Shape;272;p24">
            <a:extLst>
              <a:ext uri="{FF2B5EF4-FFF2-40B4-BE49-F238E27FC236}">
                <a16:creationId xmlns:a16="http://schemas.microsoft.com/office/drawing/2014/main" id="{3CC0BD02-301D-C20C-FA7C-D2DA0D98BE68}"/>
              </a:ext>
            </a:extLst>
          </p:cNvPr>
          <p:cNvSpPr txBox="1">
            <a:spLocks/>
          </p:cNvSpPr>
          <p:nvPr/>
        </p:nvSpPr>
        <p:spPr>
          <a:xfrm>
            <a:off x="1377895" y="3669880"/>
            <a:ext cx="5616793"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total energy spectrum in frequency is given by:</a:t>
            </a:r>
          </a:p>
        </p:txBody>
      </p:sp>
      <p:pic>
        <p:nvPicPr>
          <p:cNvPr id="9" name="Picture 8">
            <a:extLst>
              <a:ext uri="{FF2B5EF4-FFF2-40B4-BE49-F238E27FC236}">
                <a16:creationId xmlns:a16="http://schemas.microsoft.com/office/drawing/2014/main" id="{3111E5EF-DF44-78D4-EF64-7319F9AC7B06}"/>
              </a:ext>
            </a:extLst>
          </p:cNvPr>
          <p:cNvPicPr>
            <a:picLocks noChangeAspect="1"/>
          </p:cNvPicPr>
          <p:nvPr/>
        </p:nvPicPr>
        <p:blipFill>
          <a:blip r:embed="rId4"/>
          <a:stretch>
            <a:fillRect/>
          </a:stretch>
        </p:blipFill>
        <p:spPr>
          <a:xfrm>
            <a:off x="1439844" y="4286636"/>
            <a:ext cx="5877745" cy="866896"/>
          </a:xfrm>
          <a:prstGeom prst="rect">
            <a:avLst/>
          </a:prstGeom>
        </p:spPr>
      </p:pic>
      <p:sp>
        <p:nvSpPr>
          <p:cNvPr id="10" name="Google Shape;272;p24">
            <a:extLst>
              <a:ext uri="{FF2B5EF4-FFF2-40B4-BE49-F238E27FC236}">
                <a16:creationId xmlns:a16="http://schemas.microsoft.com/office/drawing/2014/main" id="{E055E8E2-188D-C214-9D3E-A3855259EC72}"/>
              </a:ext>
            </a:extLst>
          </p:cNvPr>
          <p:cNvSpPr txBox="1">
            <a:spLocks/>
          </p:cNvSpPr>
          <p:nvPr/>
        </p:nvSpPr>
        <p:spPr>
          <a:xfrm>
            <a:off x="7618440" y="4471859"/>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err="1">
                <a:solidFill>
                  <a:srgbClr val="FF0000"/>
                </a:solidFill>
              </a:rPr>
              <a:t>WVDn</a:t>
            </a:r>
            <a:r>
              <a:rPr lang="en-US" sz="2000" b="0" kern="0" dirty="0">
                <a:solidFill>
                  <a:srgbClr val="FF0000"/>
                </a:solidFill>
              </a:rPr>
              <a:t> denote for energy of noise</a:t>
            </a:r>
          </a:p>
        </p:txBody>
      </p:sp>
    </p:spTree>
    <p:extLst>
      <p:ext uri="{BB962C8B-B14F-4D97-AF65-F5344CB8AC3E}">
        <p14:creationId xmlns:p14="http://schemas.microsoft.com/office/powerpoint/2010/main" val="1978676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8520907"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The Smooth Pseudo Winger-Ville Distribution (SPWVD)</a:t>
            </a:r>
            <a:endParaRPr lang="en-US" sz="2800" kern="0" dirty="0"/>
          </a:p>
        </p:txBody>
      </p:sp>
      <p:pic>
        <p:nvPicPr>
          <p:cNvPr id="8" name="Picture 7">
            <a:extLst>
              <a:ext uri="{FF2B5EF4-FFF2-40B4-BE49-F238E27FC236}">
                <a16:creationId xmlns:a16="http://schemas.microsoft.com/office/drawing/2014/main" id="{B213818C-4338-2A53-495D-2177E40AC7F1}"/>
              </a:ext>
            </a:extLst>
          </p:cNvPr>
          <p:cNvPicPr>
            <a:picLocks noChangeAspect="1"/>
          </p:cNvPicPr>
          <p:nvPr/>
        </p:nvPicPr>
        <p:blipFill>
          <a:blip r:embed="rId3"/>
          <a:stretch>
            <a:fillRect/>
          </a:stretch>
        </p:blipFill>
        <p:spPr>
          <a:xfrm>
            <a:off x="1439844" y="2154391"/>
            <a:ext cx="3010320" cy="381053"/>
          </a:xfrm>
          <a:prstGeom prst="rect">
            <a:avLst/>
          </a:prstGeom>
        </p:spPr>
      </p:pic>
      <p:sp>
        <p:nvSpPr>
          <p:cNvPr id="11" name="Google Shape;272;p24">
            <a:extLst>
              <a:ext uri="{FF2B5EF4-FFF2-40B4-BE49-F238E27FC236}">
                <a16:creationId xmlns:a16="http://schemas.microsoft.com/office/drawing/2014/main" id="{8707315A-7AA2-20E8-C745-BA9C95BB4D32}"/>
              </a:ext>
            </a:extLst>
          </p:cNvPr>
          <p:cNvSpPr txBox="1">
            <a:spLocks/>
          </p:cNvSpPr>
          <p:nvPr/>
        </p:nvSpPr>
        <p:spPr>
          <a:xfrm>
            <a:off x="1317296" y="1565575"/>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smoothing function is given by:</a:t>
            </a:r>
          </a:p>
        </p:txBody>
      </p:sp>
      <p:sp>
        <p:nvSpPr>
          <p:cNvPr id="12" name="Google Shape;272;p24">
            <a:extLst>
              <a:ext uri="{FF2B5EF4-FFF2-40B4-BE49-F238E27FC236}">
                <a16:creationId xmlns:a16="http://schemas.microsoft.com/office/drawing/2014/main" id="{7982D8B4-421C-B29C-61F1-ECCE5A36EB3F}"/>
              </a:ext>
            </a:extLst>
          </p:cNvPr>
          <p:cNvSpPr txBox="1">
            <a:spLocks/>
          </p:cNvSpPr>
          <p:nvPr/>
        </p:nvSpPr>
        <p:spPr>
          <a:xfrm>
            <a:off x="5067837" y="1966394"/>
            <a:ext cx="4218100" cy="81898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-g(t) : filter in time domain</a:t>
            </a:r>
          </a:p>
          <a:p>
            <a:pPr algn="l"/>
            <a:r>
              <a:rPr lang="en-US" sz="2000" b="0" kern="0" dirty="0">
                <a:solidFill>
                  <a:srgbClr val="FF0000"/>
                </a:solidFill>
              </a:rPr>
              <a:t>-H(w) : filter in frequency domain</a:t>
            </a:r>
          </a:p>
        </p:txBody>
      </p:sp>
      <p:pic>
        <p:nvPicPr>
          <p:cNvPr id="14" name="Picture 13">
            <a:extLst>
              <a:ext uri="{FF2B5EF4-FFF2-40B4-BE49-F238E27FC236}">
                <a16:creationId xmlns:a16="http://schemas.microsoft.com/office/drawing/2014/main" id="{EF4F065D-EFC6-C227-A40A-CA6B4B20234C}"/>
              </a:ext>
            </a:extLst>
          </p:cNvPr>
          <p:cNvPicPr>
            <a:picLocks noChangeAspect="1"/>
          </p:cNvPicPr>
          <p:nvPr/>
        </p:nvPicPr>
        <p:blipFill>
          <a:blip r:embed="rId4"/>
          <a:stretch>
            <a:fillRect/>
          </a:stretch>
        </p:blipFill>
        <p:spPr>
          <a:xfrm>
            <a:off x="1382686" y="3285489"/>
            <a:ext cx="6134956" cy="1514686"/>
          </a:xfrm>
          <a:prstGeom prst="rect">
            <a:avLst/>
          </a:prstGeom>
        </p:spPr>
      </p:pic>
      <p:sp>
        <p:nvSpPr>
          <p:cNvPr id="15" name="Google Shape;272;p24">
            <a:extLst>
              <a:ext uri="{FF2B5EF4-FFF2-40B4-BE49-F238E27FC236}">
                <a16:creationId xmlns:a16="http://schemas.microsoft.com/office/drawing/2014/main" id="{4C0B5CF7-70E2-435B-9BD8-9E038251A4B1}"/>
              </a:ext>
            </a:extLst>
          </p:cNvPr>
          <p:cNvSpPr txBox="1">
            <a:spLocks/>
          </p:cNvSpPr>
          <p:nvPr/>
        </p:nvSpPr>
        <p:spPr>
          <a:xfrm>
            <a:off x="1317296" y="4970816"/>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Kaiser window function is given by:</a:t>
            </a:r>
          </a:p>
        </p:txBody>
      </p:sp>
      <p:sp>
        <p:nvSpPr>
          <p:cNvPr id="16" name="Google Shape;272;p24">
            <a:extLst>
              <a:ext uri="{FF2B5EF4-FFF2-40B4-BE49-F238E27FC236}">
                <a16:creationId xmlns:a16="http://schemas.microsoft.com/office/drawing/2014/main" id="{BA369E7B-1E85-61DD-4BF8-A5AEE808E0D7}"/>
              </a:ext>
            </a:extLst>
          </p:cNvPr>
          <p:cNvSpPr txBox="1">
            <a:spLocks/>
          </p:cNvSpPr>
          <p:nvPr/>
        </p:nvSpPr>
        <p:spPr>
          <a:xfrm>
            <a:off x="1317296" y="2859774"/>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SPWVD function is given by:</a:t>
            </a:r>
          </a:p>
        </p:txBody>
      </p:sp>
      <p:pic>
        <p:nvPicPr>
          <p:cNvPr id="17" name="Picture 16">
            <a:extLst>
              <a:ext uri="{FF2B5EF4-FFF2-40B4-BE49-F238E27FC236}">
                <a16:creationId xmlns:a16="http://schemas.microsoft.com/office/drawing/2014/main" id="{DCC30F2B-3868-4442-A1CE-5B95F1C0F67C}"/>
              </a:ext>
            </a:extLst>
          </p:cNvPr>
          <p:cNvPicPr>
            <a:picLocks noChangeAspect="1"/>
          </p:cNvPicPr>
          <p:nvPr/>
        </p:nvPicPr>
        <p:blipFill>
          <a:blip r:embed="rId5"/>
          <a:stretch>
            <a:fillRect/>
          </a:stretch>
        </p:blipFill>
        <p:spPr>
          <a:xfrm>
            <a:off x="1439844" y="5430381"/>
            <a:ext cx="7811590" cy="1124107"/>
          </a:xfrm>
          <a:prstGeom prst="rect">
            <a:avLst/>
          </a:prstGeom>
        </p:spPr>
      </p:pic>
      <p:sp>
        <p:nvSpPr>
          <p:cNvPr id="18" name="Google Shape;272;p24">
            <a:extLst>
              <a:ext uri="{FF2B5EF4-FFF2-40B4-BE49-F238E27FC236}">
                <a16:creationId xmlns:a16="http://schemas.microsoft.com/office/drawing/2014/main" id="{F6F599C1-1374-029D-B947-7AD3C2E35EC5}"/>
              </a:ext>
            </a:extLst>
          </p:cNvPr>
          <p:cNvSpPr txBox="1">
            <a:spLocks/>
          </p:cNvSpPr>
          <p:nvPr/>
        </p:nvSpPr>
        <p:spPr>
          <a:xfrm>
            <a:off x="9251434" y="5582940"/>
            <a:ext cx="2183279" cy="81898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-B : length of N + 1</a:t>
            </a:r>
          </a:p>
          <a:p>
            <a:pPr algn="l"/>
            <a:r>
              <a:rPr lang="en-US" sz="2000" b="0" kern="0" dirty="0">
                <a:solidFill>
                  <a:srgbClr val="FF0000"/>
                </a:solidFill>
              </a:rPr>
              <a:t>-y: shape factor</a:t>
            </a:r>
          </a:p>
        </p:txBody>
      </p:sp>
    </p:spTree>
    <p:extLst>
      <p:ext uri="{BB962C8B-B14F-4D97-AF65-F5344CB8AC3E}">
        <p14:creationId xmlns:p14="http://schemas.microsoft.com/office/powerpoint/2010/main" val="32506313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2" name="Picture 1">
            <a:extLst>
              <a:ext uri="{FF2B5EF4-FFF2-40B4-BE49-F238E27FC236}">
                <a16:creationId xmlns:a16="http://schemas.microsoft.com/office/drawing/2014/main" id="{55891EDA-4523-63C4-3F31-77E51DAF89AC}"/>
              </a:ext>
            </a:extLst>
          </p:cNvPr>
          <p:cNvPicPr>
            <a:picLocks noChangeAspect="1"/>
          </p:cNvPicPr>
          <p:nvPr/>
        </p:nvPicPr>
        <p:blipFill>
          <a:blip r:embed="rId3"/>
          <a:stretch>
            <a:fillRect/>
          </a:stretch>
        </p:blipFill>
        <p:spPr>
          <a:xfrm>
            <a:off x="2637282" y="1369536"/>
            <a:ext cx="6917435" cy="5062152"/>
          </a:xfrm>
          <a:prstGeom prst="rect">
            <a:avLst/>
          </a:prstGeom>
        </p:spPr>
      </p:pic>
    </p:spTree>
    <p:extLst>
      <p:ext uri="{BB962C8B-B14F-4D97-AF65-F5344CB8AC3E}">
        <p14:creationId xmlns:p14="http://schemas.microsoft.com/office/powerpoint/2010/main" val="2059409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6" name="Picture 5">
            <a:extLst>
              <a:ext uri="{FF2B5EF4-FFF2-40B4-BE49-F238E27FC236}">
                <a16:creationId xmlns:a16="http://schemas.microsoft.com/office/drawing/2014/main" id="{5E5EC9E0-0EDD-BD7C-B6A8-E64AC7159F3F}"/>
              </a:ext>
            </a:extLst>
          </p:cNvPr>
          <p:cNvPicPr>
            <a:picLocks noChangeAspect="1"/>
          </p:cNvPicPr>
          <p:nvPr/>
        </p:nvPicPr>
        <p:blipFill>
          <a:blip r:embed="rId3"/>
          <a:stretch>
            <a:fillRect/>
          </a:stretch>
        </p:blipFill>
        <p:spPr>
          <a:xfrm>
            <a:off x="10065075" y="2306738"/>
            <a:ext cx="1632587" cy="4291960"/>
          </a:xfrm>
          <a:prstGeom prst="rect">
            <a:avLst/>
          </a:prstGeom>
        </p:spPr>
      </p:pic>
      <p:pic>
        <p:nvPicPr>
          <p:cNvPr id="8" name="Picture 7">
            <a:extLst>
              <a:ext uri="{FF2B5EF4-FFF2-40B4-BE49-F238E27FC236}">
                <a16:creationId xmlns:a16="http://schemas.microsoft.com/office/drawing/2014/main" id="{DC97BAB4-1F9D-2AD8-957E-1620A556E39B}"/>
              </a:ext>
            </a:extLst>
          </p:cNvPr>
          <p:cNvPicPr>
            <a:picLocks noChangeAspect="1"/>
          </p:cNvPicPr>
          <p:nvPr/>
        </p:nvPicPr>
        <p:blipFill>
          <a:blip r:embed="rId4"/>
          <a:stretch>
            <a:fillRect/>
          </a:stretch>
        </p:blipFill>
        <p:spPr>
          <a:xfrm>
            <a:off x="7855715" y="2875658"/>
            <a:ext cx="2149575" cy="3325124"/>
          </a:xfrm>
          <a:prstGeom prst="rect">
            <a:avLst/>
          </a:prstGeom>
        </p:spPr>
      </p:pic>
      <p:pic>
        <p:nvPicPr>
          <p:cNvPr id="9" name="Picture 8">
            <a:extLst>
              <a:ext uri="{FF2B5EF4-FFF2-40B4-BE49-F238E27FC236}">
                <a16:creationId xmlns:a16="http://schemas.microsoft.com/office/drawing/2014/main" id="{2FBD4470-96B8-37E8-8075-B27B7DD6245E}"/>
              </a:ext>
            </a:extLst>
          </p:cNvPr>
          <p:cNvPicPr>
            <a:picLocks noChangeAspect="1"/>
          </p:cNvPicPr>
          <p:nvPr/>
        </p:nvPicPr>
        <p:blipFill>
          <a:blip r:embed="rId5"/>
          <a:stretch>
            <a:fillRect/>
          </a:stretch>
        </p:blipFill>
        <p:spPr>
          <a:xfrm>
            <a:off x="795762" y="1692016"/>
            <a:ext cx="4370127" cy="566642"/>
          </a:xfrm>
          <a:prstGeom prst="rect">
            <a:avLst/>
          </a:prstGeom>
        </p:spPr>
      </p:pic>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727318" y="1194007"/>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input function of RCA block</a:t>
            </a:r>
          </a:p>
        </p:txBody>
      </p:sp>
      <p:sp>
        <p:nvSpPr>
          <p:cNvPr id="11" name="Google Shape;272;p24">
            <a:extLst>
              <a:ext uri="{FF2B5EF4-FFF2-40B4-BE49-F238E27FC236}">
                <a16:creationId xmlns:a16="http://schemas.microsoft.com/office/drawing/2014/main" id="{8D1F8710-7589-33CA-F293-EC8D9F67CEED}"/>
              </a:ext>
            </a:extLst>
          </p:cNvPr>
          <p:cNvSpPr txBox="1">
            <a:spLocks/>
          </p:cNvSpPr>
          <p:nvPr/>
        </p:nvSpPr>
        <p:spPr>
          <a:xfrm>
            <a:off x="727318" y="2392239"/>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function of RSA block</a:t>
            </a:r>
          </a:p>
        </p:txBody>
      </p:sp>
      <p:pic>
        <p:nvPicPr>
          <p:cNvPr id="12" name="Picture 11">
            <a:extLst>
              <a:ext uri="{FF2B5EF4-FFF2-40B4-BE49-F238E27FC236}">
                <a16:creationId xmlns:a16="http://schemas.microsoft.com/office/drawing/2014/main" id="{9266F660-40D7-4723-DDD1-4858CE806313}"/>
              </a:ext>
            </a:extLst>
          </p:cNvPr>
          <p:cNvPicPr>
            <a:picLocks noChangeAspect="1"/>
          </p:cNvPicPr>
          <p:nvPr/>
        </p:nvPicPr>
        <p:blipFill>
          <a:blip r:embed="rId6"/>
          <a:stretch>
            <a:fillRect/>
          </a:stretch>
        </p:blipFill>
        <p:spPr>
          <a:xfrm>
            <a:off x="795762" y="3001270"/>
            <a:ext cx="6162907" cy="514245"/>
          </a:xfrm>
          <a:prstGeom prst="rect">
            <a:avLst/>
          </a:prstGeom>
        </p:spPr>
      </p:pic>
      <p:pic>
        <p:nvPicPr>
          <p:cNvPr id="13" name="Picture 12">
            <a:extLst>
              <a:ext uri="{FF2B5EF4-FFF2-40B4-BE49-F238E27FC236}">
                <a16:creationId xmlns:a16="http://schemas.microsoft.com/office/drawing/2014/main" id="{714F321B-54D3-7F4B-46B9-46E95501A635}"/>
              </a:ext>
            </a:extLst>
          </p:cNvPr>
          <p:cNvPicPr>
            <a:picLocks noChangeAspect="1"/>
          </p:cNvPicPr>
          <p:nvPr/>
        </p:nvPicPr>
        <p:blipFill>
          <a:blip r:embed="rId7"/>
          <a:stretch>
            <a:fillRect/>
          </a:stretch>
        </p:blipFill>
        <p:spPr>
          <a:xfrm>
            <a:off x="795762" y="4136055"/>
            <a:ext cx="3286044" cy="1344952"/>
          </a:xfrm>
          <a:prstGeom prst="rect">
            <a:avLst/>
          </a:prstGeom>
        </p:spPr>
      </p:pic>
      <p:sp>
        <p:nvSpPr>
          <p:cNvPr id="15" name="Google Shape;272;p24">
            <a:extLst>
              <a:ext uri="{FF2B5EF4-FFF2-40B4-BE49-F238E27FC236}">
                <a16:creationId xmlns:a16="http://schemas.microsoft.com/office/drawing/2014/main" id="{ECE2B362-FA58-61E0-EB9F-703A7A62DD8D}"/>
              </a:ext>
            </a:extLst>
          </p:cNvPr>
          <p:cNvSpPr txBox="1">
            <a:spLocks/>
          </p:cNvSpPr>
          <p:nvPr/>
        </p:nvSpPr>
        <p:spPr>
          <a:xfrm>
            <a:off x="734526" y="3663887"/>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function of RCA block</a:t>
            </a:r>
          </a:p>
        </p:txBody>
      </p:sp>
      <p:pic>
        <p:nvPicPr>
          <p:cNvPr id="16" name="Picture 15">
            <a:extLst>
              <a:ext uri="{FF2B5EF4-FFF2-40B4-BE49-F238E27FC236}">
                <a16:creationId xmlns:a16="http://schemas.microsoft.com/office/drawing/2014/main" id="{E9BAADE2-9ACD-9A37-D84D-74C293429219}"/>
              </a:ext>
            </a:extLst>
          </p:cNvPr>
          <p:cNvPicPr>
            <a:picLocks noChangeAspect="1"/>
          </p:cNvPicPr>
          <p:nvPr/>
        </p:nvPicPr>
        <p:blipFill>
          <a:blip r:embed="rId8"/>
          <a:stretch>
            <a:fillRect/>
          </a:stretch>
        </p:blipFill>
        <p:spPr>
          <a:xfrm>
            <a:off x="807144" y="5572380"/>
            <a:ext cx="5487166" cy="419158"/>
          </a:xfrm>
          <a:prstGeom prst="rect">
            <a:avLst/>
          </a:prstGeom>
        </p:spPr>
      </p:pic>
      <p:sp>
        <p:nvSpPr>
          <p:cNvPr id="17" name="TextBox 16">
            <a:extLst>
              <a:ext uri="{FF2B5EF4-FFF2-40B4-BE49-F238E27FC236}">
                <a16:creationId xmlns:a16="http://schemas.microsoft.com/office/drawing/2014/main" id="{BD855222-F62F-1FBE-8B46-8BE2850FB1F4}"/>
              </a:ext>
            </a:extLst>
          </p:cNvPr>
          <p:cNvSpPr txBox="1"/>
          <p:nvPr/>
        </p:nvSpPr>
        <p:spPr>
          <a:xfrm>
            <a:off x="6294310" y="1437599"/>
            <a:ext cx="5899280" cy="923330"/>
          </a:xfrm>
          <a:prstGeom prst="rect">
            <a:avLst/>
          </a:prstGeom>
          <a:noFill/>
        </p:spPr>
        <p:txBody>
          <a:bodyPr wrap="square">
            <a:spAutoFit/>
          </a:bodyPr>
          <a:lstStyle/>
          <a:p>
            <a:r>
              <a:rPr lang="en-US" sz="1800" b="0" i="0" dirty="0">
                <a:solidFill>
                  <a:srgbClr val="FF0000"/>
                </a:solidFill>
                <a:effectLst/>
                <a:latin typeface="NimbusRomNo9L-Regu"/>
              </a:rPr>
              <a:t>RCAs extract intrinsic features at multiple scales of SPWVD-based time-frequency representations</a:t>
            </a:r>
            <a:r>
              <a:rPr lang="en-US" dirty="0">
                <a:solidFill>
                  <a:srgbClr val="FF0000"/>
                </a:solidFill>
              </a:rPr>
              <a:t> </a:t>
            </a:r>
            <a:br>
              <a:rPr lang="en-US" dirty="0">
                <a:solidFill>
                  <a:srgbClr val="FF0000"/>
                </a:solidFill>
              </a:rPr>
            </a:br>
            <a:endParaRPr lang="en-US" dirty="0">
              <a:solidFill>
                <a:srgbClr val="FF0000"/>
              </a:solidFill>
            </a:endParaRPr>
          </a:p>
        </p:txBody>
      </p:sp>
    </p:spTree>
    <p:extLst>
      <p:ext uri="{BB962C8B-B14F-4D97-AF65-F5344CB8AC3E}">
        <p14:creationId xmlns:p14="http://schemas.microsoft.com/office/powerpoint/2010/main" val="1463251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6" name="Picture 5">
            <a:extLst>
              <a:ext uri="{FF2B5EF4-FFF2-40B4-BE49-F238E27FC236}">
                <a16:creationId xmlns:a16="http://schemas.microsoft.com/office/drawing/2014/main" id="{5E5EC9E0-0EDD-BD7C-B6A8-E64AC7159F3F}"/>
              </a:ext>
            </a:extLst>
          </p:cNvPr>
          <p:cNvPicPr>
            <a:picLocks noChangeAspect="1"/>
          </p:cNvPicPr>
          <p:nvPr/>
        </p:nvPicPr>
        <p:blipFill>
          <a:blip r:embed="rId3"/>
          <a:stretch>
            <a:fillRect/>
          </a:stretch>
        </p:blipFill>
        <p:spPr>
          <a:xfrm>
            <a:off x="7305478" y="1419105"/>
            <a:ext cx="1919982" cy="5047501"/>
          </a:xfrm>
          <a:prstGeom prst="rect">
            <a:avLst/>
          </a:prstGeom>
        </p:spPr>
      </p:pic>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869626" y="3077233"/>
            <a:ext cx="3136766"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of CFA block</a:t>
            </a:r>
          </a:p>
        </p:txBody>
      </p:sp>
      <p:pic>
        <p:nvPicPr>
          <p:cNvPr id="2" name="Picture 1">
            <a:extLst>
              <a:ext uri="{FF2B5EF4-FFF2-40B4-BE49-F238E27FC236}">
                <a16:creationId xmlns:a16="http://schemas.microsoft.com/office/drawing/2014/main" id="{12618392-9F1D-76FF-6534-434F98C79B56}"/>
              </a:ext>
            </a:extLst>
          </p:cNvPr>
          <p:cNvPicPr>
            <a:picLocks noChangeAspect="1"/>
          </p:cNvPicPr>
          <p:nvPr/>
        </p:nvPicPr>
        <p:blipFill>
          <a:blip r:embed="rId4"/>
          <a:stretch>
            <a:fillRect/>
          </a:stretch>
        </p:blipFill>
        <p:spPr>
          <a:xfrm>
            <a:off x="9225460" y="2490841"/>
            <a:ext cx="1409897" cy="3467584"/>
          </a:xfrm>
          <a:prstGeom prst="rect">
            <a:avLst/>
          </a:prstGeom>
        </p:spPr>
      </p:pic>
      <p:pic>
        <p:nvPicPr>
          <p:cNvPr id="5" name="Picture 4">
            <a:extLst>
              <a:ext uri="{FF2B5EF4-FFF2-40B4-BE49-F238E27FC236}">
                <a16:creationId xmlns:a16="http://schemas.microsoft.com/office/drawing/2014/main" id="{B5FB530D-5525-9107-850C-AD76B4D86C5F}"/>
              </a:ext>
            </a:extLst>
          </p:cNvPr>
          <p:cNvPicPr>
            <a:picLocks noChangeAspect="1"/>
          </p:cNvPicPr>
          <p:nvPr/>
        </p:nvPicPr>
        <p:blipFill>
          <a:blip r:embed="rId5"/>
          <a:stretch>
            <a:fillRect/>
          </a:stretch>
        </p:blipFill>
        <p:spPr>
          <a:xfrm>
            <a:off x="869626" y="2211535"/>
            <a:ext cx="3458058" cy="590632"/>
          </a:xfrm>
          <a:prstGeom prst="rect">
            <a:avLst/>
          </a:prstGeom>
        </p:spPr>
      </p:pic>
      <p:pic>
        <p:nvPicPr>
          <p:cNvPr id="7" name="Picture 6">
            <a:extLst>
              <a:ext uri="{FF2B5EF4-FFF2-40B4-BE49-F238E27FC236}">
                <a16:creationId xmlns:a16="http://schemas.microsoft.com/office/drawing/2014/main" id="{36A476D0-5C7B-E7D8-3755-0381971DD337}"/>
              </a:ext>
            </a:extLst>
          </p:cNvPr>
          <p:cNvPicPr>
            <a:picLocks noChangeAspect="1"/>
          </p:cNvPicPr>
          <p:nvPr/>
        </p:nvPicPr>
        <p:blipFill>
          <a:blip r:embed="rId6"/>
          <a:stretch>
            <a:fillRect/>
          </a:stretch>
        </p:blipFill>
        <p:spPr>
          <a:xfrm>
            <a:off x="869626" y="3863300"/>
            <a:ext cx="5087060" cy="447737"/>
          </a:xfrm>
          <a:prstGeom prst="rect">
            <a:avLst/>
          </a:prstGeom>
        </p:spPr>
      </p:pic>
      <p:sp>
        <p:nvSpPr>
          <p:cNvPr id="13" name="Google Shape;272;p24">
            <a:extLst>
              <a:ext uri="{FF2B5EF4-FFF2-40B4-BE49-F238E27FC236}">
                <a16:creationId xmlns:a16="http://schemas.microsoft.com/office/drawing/2014/main" id="{FD7721BE-ED7B-2357-C9CB-34D6A1BCCD42}"/>
              </a:ext>
            </a:extLst>
          </p:cNvPr>
          <p:cNvSpPr txBox="1">
            <a:spLocks/>
          </p:cNvSpPr>
          <p:nvPr/>
        </p:nvSpPr>
        <p:spPr>
          <a:xfrm>
            <a:off x="869626" y="1631906"/>
            <a:ext cx="2739543"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Attention </a:t>
            </a:r>
            <a:r>
              <a:rPr lang="en-US" sz="2000" b="0" kern="0" dirty="0" err="1">
                <a:solidFill>
                  <a:srgbClr val="0070C0"/>
                </a:solidFill>
              </a:rPr>
              <a:t>mechainsm</a:t>
            </a:r>
            <a:endParaRPr lang="en-US" sz="2000" b="0" kern="0" dirty="0">
              <a:solidFill>
                <a:srgbClr val="0070C0"/>
              </a:solidFill>
            </a:endParaRPr>
          </a:p>
        </p:txBody>
      </p:sp>
      <p:sp>
        <p:nvSpPr>
          <p:cNvPr id="17" name="TextBox 16">
            <a:extLst>
              <a:ext uri="{FF2B5EF4-FFF2-40B4-BE49-F238E27FC236}">
                <a16:creationId xmlns:a16="http://schemas.microsoft.com/office/drawing/2014/main" id="{F4427ECF-AA0D-3B7A-652A-EA151D1917F7}"/>
              </a:ext>
            </a:extLst>
          </p:cNvPr>
          <p:cNvSpPr txBox="1"/>
          <p:nvPr/>
        </p:nvSpPr>
        <p:spPr>
          <a:xfrm>
            <a:off x="141108" y="4851286"/>
            <a:ext cx="7164370" cy="646331"/>
          </a:xfrm>
          <a:prstGeom prst="rect">
            <a:avLst/>
          </a:prstGeom>
          <a:noFill/>
        </p:spPr>
        <p:txBody>
          <a:bodyPr wrap="square">
            <a:spAutoFit/>
          </a:bodyPr>
          <a:lstStyle/>
          <a:p>
            <a:r>
              <a:rPr lang="en-US" sz="1800" b="0" i="0" dirty="0">
                <a:solidFill>
                  <a:srgbClr val="FF0000"/>
                </a:solidFill>
                <a:effectLst/>
                <a:latin typeface="NimbusRomNo9L-Regu"/>
              </a:rPr>
              <a:t>CFA refines these features by selectively amplifying the more relevant ones</a:t>
            </a:r>
            <a:r>
              <a:rPr lang="en-US" dirty="0">
                <a:solidFill>
                  <a:srgbClr val="FF0000"/>
                </a:solidFill>
              </a:rPr>
              <a:t> </a:t>
            </a:r>
            <a:br>
              <a:rPr lang="en-US" dirty="0">
                <a:solidFill>
                  <a:srgbClr val="FF0000"/>
                </a:solidFill>
              </a:rPr>
            </a:br>
            <a:endParaRPr lang="en-US" dirty="0">
              <a:solidFill>
                <a:srgbClr val="FF0000"/>
              </a:solidFill>
            </a:endParaRPr>
          </a:p>
        </p:txBody>
      </p:sp>
      <p:sp>
        <p:nvSpPr>
          <p:cNvPr id="19" name="TextBox 18">
            <a:extLst>
              <a:ext uri="{FF2B5EF4-FFF2-40B4-BE49-F238E27FC236}">
                <a16:creationId xmlns:a16="http://schemas.microsoft.com/office/drawing/2014/main" id="{8E0BAFA9-8CA3-A187-60F0-7EE6218093B0}"/>
              </a:ext>
            </a:extLst>
          </p:cNvPr>
          <p:cNvSpPr txBox="1"/>
          <p:nvPr/>
        </p:nvSpPr>
        <p:spPr>
          <a:xfrm>
            <a:off x="141108" y="5530866"/>
            <a:ext cx="6797020" cy="1015663"/>
          </a:xfrm>
          <a:prstGeom prst="rect">
            <a:avLst/>
          </a:prstGeom>
          <a:noFill/>
        </p:spPr>
        <p:txBody>
          <a:bodyPr wrap="square">
            <a:spAutoFit/>
          </a:bodyPr>
          <a:lstStyle/>
          <a:p>
            <a:pPr marL="342900" indent="-342900">
              <a:buFont typeface="Wingdings" panose="05000000000000000000" pitchFamily="2" charset="2"/>
              <a:buChar char="Ø"/>
            </a:pPr>
            <a:r>
              <a:rPr lang="en-US" sz="2000" b="1" i="0" dirty="0">
                <a:solidFill>
                  <a:srgbClr val="FF0000"/>
                </a:solidFill>
                <a:effectLst/>
                <a:latin typeface="NimbusRomNo9L-Regu"/>
              </a:rPr>
              <a:t>combination of RCA and CFA improves classification accuracy</a:t>
            </a:r>
            <a:r>
              <a:rPr lang="en-US" sz="2000" b="1" dirty="0">
                <a:solidFill>
                  <a:srgbClr val="FF0000"/>
                </a:solidFill>
              </a:rPr>
              <a:t> </a:t>
            </a:r>
            <a:br>
              <a:rPr lang="en-US" sz="2000" b="1" dirty="0">
                <a:solidFill>
                  <a:srgbClr val="FF0000"/>
                </a:solidFill>
              </a:rPr>
            </a:br>
            <a:endParaRPr lang="en-US" sz="2000" b="1" dirty="0">
              <a:solidFill>
                <a:srgbClr val="FF0000"/>
              </a:solidFill>
            </a:endParaRPr>
          </a:p>
        </p:txBody>
      </p:sp>
    </p:spTree>
    <p:extLst>
      <p:ext uri="{BB962C8B-B14F-4D97-AF65-F5344CB8AC3E}">
        <p14:creationId xmlns:p14="http://schemas.microsoft.com/office/powerpoint/2010/main" val="32939347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1189870" y="1527462"/>
            <a:ext cx="9562459"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SPWVD spectrum image of radar communication that were generated by </a:t>
            </a:r>
            <a:r>
              <a:rPr lang="en-US" sz="2000" b="0" kern="0" dirty="0" err="1">
                <a:solidFill>
                  <a:srgbClr val="0070C0"/>
                </a:solidFill>
              </a:rPr>
              <a:t>MatLab</a:t>
            </a:r>
            <a:r>
              <a:rPr lang="en-US" sz="2000" b="0" kern="0" dirty="0">
                <a:solidFill>
                  <a:srgbClr val="0070C0"/>
                </a:solidFill>
              </a:rPr>
              <a:t> tool box</a:t>
            </a:r>
          </a:p>
        </p:txBody>
      </p:sp>
      <p:pic>
        <p:nvPicPr>
          <p:cNvPr id="4" name="Picture 3">
            <a:extLst>
              <a:ext uri="{FF2B5EF4-FFF2-40B4-BE49-F238E27FC236}">
                <a16:creationId xmlns:a16="http://schemas.microsoft.com/office/drawing/2014/main" id="{97341C74-6EFC-F099-20EA-704293004E5E}"/>
              </a:ext>
            </a:extLst>
          </p:cNvPr>
          <p:cNvPicPr>
            <a:picLocks noChangeAspect="1"/>
          </p:cNvPicPr>
          <p:nvPr/>
        </p:nvPicPr>
        <p:blipFill>
          <a:blip r:embed="rId3"/>
          <a:stretch>
            <a:fillRect/>
          </a:stretch>
        </p:blipFill>
        <p:spPr>
          <a:xfrm>
            <a:off x="1189870" y="2199635"/>
            <a:ext cx="10241542" cy="4055269"/>
          </a:xfrm>
          <a:prstGeom prst="rect">
            <a:avLst/>
          </a:prstGeom>
        </p:spPr>
      </p:pic>
    </p:spTree>
    <p:extLst>
      <p:ext uri="{BB962C8B-B14F-4D97-AF65-F5344CB8AC3E}">
        <p14:creationId xmlns:p14="http://schemas.microsoft.com/office/powerpoint/2010/main" val="1296653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3537144" y="1715891"/>
            <a:ext cx="4805577"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kern="0" dirty="0">
                <a:solidFill>
                  <a:srgbClr val="0070C0"/>
                </a:solidFill>
              </a:rPr>
              <a:t>Data Set Information of 12 waveform types</a:t>
            </a:r>
          </a:p>
        </p:txBody>
      </p:sp>
      <p:pic>
        <p:nvPicPr>
          <p:cNvPr id="2" name="Picture 1">
            <a:extLst>
              <a:ext uri="{FF2B5EF4-FFF2-40B4-BE49-F238E27FC236}">
                <a16:creationId xmlns:a16="http://schemas.microsoft.com/office/drawing/2014/main" id="{05C0E1CC-8BE1-337C-A286-AE2D69A95DC6}"/>
              </a:ext>
            </a:extLst>
          </p:cNvPr>
          <p:cNvPicPr>
            <a:picLocks noChangeAspect="1"/>
          </p:cNvPicPr>
          <p:nvPr/>
        </p:nvPicPr>
        <p:blipFill>
          <a:blip r:embed="rId3"/>
          <a:stretch>
            <a:fillRect/>
          </a:stretch>
        </p:blipFill>
        <p:spPr>
          <a:xfrm>
            <a:off x="2166389" y="2300273"/>
            <a:ext cx="7859222" cy="3762900"/>
          </a:xfrm>
          <a:prstGeom prst="rect">
            <a:avLst/>
          </a:prstGeom>
        </p:spPr>
      </p:pic>
    </p:spTree>
    <p:extLst>
      <p:ext uri="{BB962C8B-B14F-4D97-AF65-F5344CB8AC3E}">
        <p14:creationId xmlns:p14="http://schemas.microsoft.com/office/powerpoint/2010/main" val="121598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5" name="TextBox 4">
            <a:extLst>
              <a:ext uri="{FF2B5EF4-FFF2-40B4-BE49-F238E27FC236}">
                <a16:creationId xmlns:a16="http://schemas.microsoft.com/office/drawing/2014/main" id="{763921A5-176D-71D9-B77D-EADD66A8810F}"/>
              </a:ext>
            </a:extLst>
          </p:cNvPr>
          <p:cNvSpPr txBox="1"/>
          <p:nvPr/>
        </p:nvSpPr>
        <p:spPr>
          <a:xfrm>
            <a:off x="1306250" y="1426406"/>
            <a:ext cx="8993465" cy="400110"/>
          </a:xfrm>
          <a:prstGeom prst="rect">
            <a:avLst/>
          </a:prstGeom>
          <a:noFill/>
        </p:spPr>
        <p:txBody>
          <a:bodyPr wrap="square">
            <a:spAutoFit/>
          </a:bodyPr>
          <a:lstStyle/>
          <a:p>
            <a:r>
              <a:rPr lang="en-US" sz="2000" b="1" i="0" dirty="0">
                <a:solidFill>
                  <a:srgbClr val="0070C0"/>
                </a:solidFill>
                <a:effectLst/>
                <a:latin typeface="NimbusRomNo9L-Regu"/>
              </a:rPr>
              <a:t>The radar communication spectrums are generated with specific parameter:</a:t>
            </a:r>
          </a:p>
        </p:txBody>
      </p:sp>
      <p:sp>
        <p:nvSpPr>
          <p:cNvPr id="7" name="TextBox 6">
            <a:extLst>
              <a:ext uri="{FF2B5EF4-FFF2-40B4-BE49-F238E27FC236}">
                <a16:creationId xmlns:a16="http://schemas.microsoft.com/office/drawing/2014/main" id="{7E8D9A7A-ADE3-3C13-4D4C-8A5B1B8052D3}"/>
              </a:ext>
            </a:extLst>
          </p:cNvPr>
          <p:cNvSpPr txBox="1"/>
          <p:nvPr/>
        </p:nvSpPr>
        <p:spPr>
          <a:xfrm>
            <a:off x="1758865" y="1821257"/>
            <a:ext cx="5037862" cy="2862322"/>
          </a:xfrm>
          <a:prstGeom prst="rect">
            <a:avLst/>
          </a:prstGeom>
          <a:noFill/>
        </p:spPr>
        <p:txBody>
          <a:bodyPr wrap="square">
            <a:spAutoFit/>
          </a:bodyPr>
          <a:lstStyle/>
          <a:p>
            <a:pPr marL="342900" indent="-342900">
              <a:buFont typeface="Wingdings" panose="05000000000000000000" pitchFamily="2" charset="2"/>
              <a:buChar char="Ø"/>
            </a:pPr>
            <a:r>
              <a:rPr lang="en-US" sz="2000" i="0" dirty="0">
                <a:solidFill>
                  <a:srgbClr val="FF0000"/>
                </a:solidFill>
                <a:effectLst/>
                <a:latin typeface="NimbusRomNo9L-Regu"/>
              </a:rPr>
              <a:t>Path delays : [0, 9, 7] x 10^-6</a:t>
            </a:r>
          </a:p>
          <a:p>
            <a:pPr marL="342900" indent="-342900">
              <a:buFont typeface="Wingdings" panose="05000000000000000000" pitchFamily="2" charset="2"/>
              <a:buChar char="Ø"/>
            </a:pPr>
            <a:r>
              <a:rPr lang="en-US" sz="2000" dirty="0">
                <a:solidFill>
                  <a:srgbClr val="FF0000"/>
                </a:solidFill>
                <a:latin typeface="NimbusRomNo9L-Regu"/>
              </a:rPr>
              <a:t>Average path gain: [0, -2, -10] dB</a:t>
            </a:r>
          </a:p>
          <a:p>
            <a:pPr marL="342900" indent="-342900">
              <a:buFont typeface="Wingdings" panose="05000000000000000000" pitchFamily="2" charset="2"/>
              <a:buChar char="Ø"/>
            </a:pPr>
            <a:r>
              <a:rPr lang="en-US" sz="2000" i="0" dirty="0">
                <a:solidFill>
                  <a:srgbClr val="FF0000"/>
                </a:solidFill>
                <a:effectLst/>
                <a:latin typeface="NimbusRomNo9L-Regu"/>
              </a:rPr>
              <a:t>Signal to noise: [-5:5:30] dB</a:t>
            </a:r>
          </a:p>
          <a:p>
            <a:pPr marL="342900" indent="-342900">
              <a:buFont typeface="Wingdings" panose="05000000000000000000" pitchFamily="2" charset="2"/>
              <a:buChar char="Ø"/>
            </a:pPr>
            <a:r>
              <a:rPr lang="en-US" sz="2000" dirty="0">
                <a:solidFill>
                  <a:srgbClr val="FF0000"/>
                </a:solidFill>
                <a:latin typeface="NimbusRomNo9L-Regu"/>
              </a:rPr>
              <a:t>The Maximum Doppler shift </a:t>
            </a:r>
            <a:r>
              <a:rPr lang="en-US" sz="2000" dirty="0" err="1">
                <a:solidFill>
                  <a:srgbClr val="FF0000"/>
                </a:solidFill>
                <a:latin typeface="NimbusRomNo9L-Regu"/>
              </a:rPr>
              <a:t>Fd</a:t>
            </a:r>
            <a:r>
              <a:rPr lang="en-US" sz="2000" dirty="0">
                <a:solidFill>
                  <a:srgbClr val="FF0000"/>
                </a:solidFill>
                <a:latin typeface="NimbusRomNo9L-Regu"/>
              </a:rPr>
              <a:t> = 70 Hz</a:t>
            </a:r>
          </a:p>
          <a:p>
            <a:pPr marL="342900" indent="-342900">
              <a:buFont typeface="Wingdings" panose="05000000000000000000" pitchFamily="2" charset="2"/>
              <a:buChar char="Ø"/>
            </a:pPr>
            <a:r>
              <a:rPr lang="en-US" sz="2000" i="0" dirty="0">
                <a:solidFill>
                  <a:srgbClr val="FF0000"/>
                </a:solidFill>
                <a:effectLst/>
                <a:latin typeface="NimbusRomNo9L-Regu"/>
              </a:rPr>
              <a:t>Data image size : 224 x 224</a:t>
            </a:r>
          </a:p>
          <a:p>
            <a:pPr marL="342900" indent="-342900">
              <a:buFont typeface="Wingdings" panose="05000000000000000000" pitchFamily="2" charset="2"/>
              <a:buChar char="Ø"/>
            </a:pPr>
            <a:r>
              <a:rPr lang="en-US" sz="2000" i="0" dirty="0">
                <a:solidFill>
                  <a:srgbClr val="FF0000"/>
                </a:solidFill>
                <a:effectLst/>
                <a:latin typeface="NimbusRomNo9L-Regu"/>
              </a:rPr>
              <a:t>The number of data in each class: 393,216</a:t>
            </a:r>
          </a:p>
          <a:p>
            <a:pPr marL="342900" indent="-342900">
              <a:buFont typeface="Wingdings" panose="05000000000000000000" pitchFamily="2" charset="2"/>
              <a:buChar char="Ø"/>
            </a:pPr>
            <a:r>
              <a:rPr lang="en-US" sz="2000" dirty="0">
                <a:solidFill>
                  <a:srgbClr val="FF0000"/>
                </a:solidFill>
                <a:latin typeface="NimbusRomNo9L-Regu"/>
              </a:rPr>
              <a:t>The ratio of training set: 70%</a:t>
            </a:r>
          </a:p>
          <a:p>
            <a:pPr marL="342900" indent="-342900">
              <a:buFont typeface="Wingdings" panose="05000000000000000000" pitchFamily="2" charset="2"/>
              <a:buChar char="Ø"/>
            </a:pPr>
            <a:r>
              <a:rPr lang="en-US" sz="2000" i="0" dirty="0">
                <a:solidFill>
                  <a:srgbClr val="FF0000"/>
                </a:solidFill>
                <a:effectLst/>
                <a:latin typeface="NimbusRomNo9L-Regu"/>
              </a:rPr>
              <a:t>The ratio of validation</a:t>
            </a:r>
            <a:r>
              <a:rPr lang="en-US" sz="2000" dirty="0">
                <a:solidFill>
                  <a:srgbClr val="FF0000"/>
                </a:solidFill>
                <a:latin typeface="NimbusRomNo9L-Regu"/>
              </a:rPr>
              <a:t> set: 15%</a:t>
            </a:r>
          </a:p>
          <a:p>
            <a:pPr marL="342900" indent="-342900">
              <a:buFont typeface="Wingdings" panose="05000000000000000000" pitchFamily="2" charset="2"/>
              <a:buChar char="Ø"/>
            </a:pPr>
            <a:r>
              <a:rPr lang="en-US" sz="2000" i="0" dirty="0">
                <a:solidFill>
                  <a:srgbClr val="FF0000"/>
                </a:solidFill>
                <a:effectLst/>
                <a:latin typeface="NimbusRomNo9L-Regu"/>
              </a:rPr>
              <a:t>The ratio of</a:t>
            </a:r>
            <a:r>
              <a:rPr lang="en-US" sz="2000" dirty="0">
                <a:solidFill>
                  <a:srgbClr val="FF0000"/>
                </a:solidFill>
                <a:latin typeface="NimbusRomNo9L-Regu"/>
              </a:rPr>
              <a:t> test set: 15%</a:t>
            </a:r>
            <a:endParaRPr lang="en-US" sz="2000" i="0" dirty="0">
              <a:solidFill>
                <a:srgbClr val="FF0000"/>
              </a:solidFill>
              <a:effectLst/>
              <a:latin typeface="NimbusRomNo9L-Regu"/>
            </a:endParaRPr>
          </a:p>
        </p:txBody>
      </p:sp>
      <p:sp>
        <p:nvSpPr>
          <p:cNvPr id="8" name="TextBox 7">
            <a:extLst>
              <a:ext uri="{FF2B5EF4-FFF2-40B4-BE49-F238E27FC236}">
                <a16:creationId xmlns:a16="http://schemas.microsoft.com/office/drawing/2014/main" id="{EBE2AE8D-0AA9-DAA3-E3C2-6A298E47BB76}"/>
              </a:ext>
            </a:extLst>
          </p:cNvPr>
          <p:cNvSpPr txBox="1"/>
          <p:nvPr/>
        </p:nvSpPr>
        <p:spPr>
          <a:xfrm>
            <a:off x="1189872" y="4683579"/>
            <a:ext cx="8993465" cy="400110"/>
          </a:xfrm>
          <a:prstGeom prst="rect">
            <a:avLst/>
          </a:prstGeom>
          <a:noFill/>
        </p:spPr>
        <p:txBody>
          <a:bodyPr wrap="square">
            <a:spAutoFit/>
          </a:bodyPr>
          <a:lstStyle/>
          <a:p>
            <a:r>
              <a:rPr lang="en-US" sz="2000" b="1" dirty="0">
                <a:solidFill>
                  <a:srgbClr val="0070C0"/>
                </a:solidFill>
                <a:latin typeface="NimbusRomNo9L-Regu"/>
              </a:rPr>
              <a:t>Hardware for training deep learning network</a:t>
            </a:r>
            <a:endParaRPr lang="en-US" sz="2000" b="1" i="0" dirty="0">
              <a:solidFill>
                <a:srgbClr val="0070C0"/>
              </a:solidFill>
              <a:effectLst/>
              <a:latin typeface="NimbusRomNo9L-Regu"/>
            </a:endParaRPr>
          </a:p>
        </p:txBody>
      </p:sp>
      <p:sp>
        <p:nvSpPr>
          <p:cNvPr id="9" name="TextBox 8">
            <a:extLst>
              <a:ext uri="{FF2B5EF4-FFF2-40B4-BE49-F238E27FC236}">
                <a16:creationId xmlns:a16="http://schemas.microsoft.com/office/drawing/2014/main" id="{DEEAB730-C0B6-BB96-54EF-F22EC7BA47A9}"/>
              </a:ext>
            </a:extLst>
          </p:cNvPr>
          <p:cNvSpPr txBox="1"/>
          <p:nvPr/>
        </p:nvSpPr>
        <p:spPr>
          <a:xfrm>
            <a:off x="1758865" y="5124021"/>
            <a:ext cx="3699256" cy="1015663"/>
          </a:xfrm>
          <a:prstGeom prst="rect">
            <a:avLst/>
          </a:prstGeom>
          <a:noFill/>
        </p:spPr>
        <p:txBody>
          <a:bodyPr wrap="square">
            <a:spAutoFit/>
          </a:bodyPr>
          <a:lstStyle/>
          <a:p>
            <a:pPr marL="342900" indent="-342900">
              <a:buFont typeface="Wingdings" panose="05000000000000000000" pitchFamily="2" charset="2"/>
              <a:buChar char="Ø"/>
            </a:pPr>
            <a:r>
              <a:rPr lang="en-US" sz="2000" i="0" dirty="0">
                <a:solidFill>
                  <a:srgbClr val="FF0000"/>
                </a:solidFill>
                <a:effectLst/>
                <a:latin typeface="NimbusRomNo9L-Regu"/>
              </a:rPr>
              <a:t>CPU: 3.8 GHz</a:t>
            </a:r>
          </a:p>
          <a:p>
            <a:pPr marL="342900" indent="-342900">
              <a:buFont typeface="Wingdings" panose="05000000000000000000" pitchFamily="2" charset="2"/>
              <a:buChar char="Ø"/>
            </a:pPr>
            <a:r>
              <a:rPr lang="en-US" sz="2000" dirty="0">
                <a:solidFill>
                  <a:srgbClr val="FF0000"/>
                </a:solidFill>
                <a:latin typeface="NimbusRomNo9L-Regu"/>
              </a:rPr>
              <a:t>RAM: 64 GB</a:t>
            </a:r>
          </a:p>
          <a:p>
            <a:pPr marL="342900" indent="-342900">
              <a:buFont typeface="Wingdings" panose="05000000000000000000" pitchFamily="2" charset="2"/>
              <a:buChar char="Ø"/>
            </a:pPr>
            <a:r>
              <a:rPr lang="en-US" sz="2000" i="0" dirty="0">
                <a:solidFill>
                  <a:srgbClr val="FF0000"/>
                </a:solidFill>
                <a:effectLst/>
                <a:latin typeface="NimbusRomNo9L-Regu"/>
              </a:rPr>
              <a:t>GPU: N</a:t>
            </a:r>
            <a:r>
              <a:rPr lang="en-US" sz="2000" dirty="0">
                <a:solidFill>
                  <a:srgbClr val="FF0000"/>
                </a:solidFill>
                <a:latin typeface="NimbusRomNo9L-Regu"/>
              </a:rPr>
              <a:t>vidia GTX 3060Ti</a:t>
            </a:r>
            <a:endParaRPr lang="en-US" sz="2000" i="0" dirty="0">
              <a:solidFill>
                <a:srgbClr val="FF0000"/>
              </a:solidFill>
              <a:effectLst/>
              <a:latin typeface="NimbusRomNo9L-Regu"/>
            </a:endParaRPr>
          </a:p>
        </p:txBody>
      </p:sp>
      <p:pic>
        <p:nvPicPr>
          <p:cNvPr id="11" name="Picture 10">
            <a:extLst>
              <a:ext uri="{FF2B5EF4-FFF2-40B4-BE49-F238E27FC236}">
                <a16:creationId xmlns:a16="http://schemas.microsoft.com/office/drawing/2014/main" id="{B9C5E9EE-45E6-12B3-2B1E-A59ADA298746}"/>
              </a:ext>
            </a:extLst>
          </p:cNvPr>
          <p:cNvPicPr>
            <a:picLocks noChangeAspect="1"/>
          </p:cNvPicPr>
          <p:nvPr/>
        </p:nvPicPr>
        <p:blipFill>
          <a:blip r:embed="rId3"/>
          <a:stretch>
            <a:fillRect/>
          </a:stretch>
        </p:blipFill>
        <p:spPr>
          <a:xfrm>
            <a:off x="7055261" y="2318773"/>
            <a:ext cx="4858937" cy="1923958"/>
          </a:xfrm>
          <a:prstGeom prst="rect">
            <a:avLst/>
          </a:prstGeom>
        </p:spPr>
      </p:pic>
      <p:pic>
        <p:nvPicPr>
          <p:cNvPr id="1026" name="Picture 2" descr="Card đồ họa RTX 3060 giá chỉ từ 8 triệu 👍 OK chưa | HACOM">
            <a:extLst>
              <a:ext uri="{FF2B5EF4-FFF2-40B4-BE49-F238E27FC236}">
                <a16:creationId xmlns:a16="http://schemas.microsoft.com/office/drawing/2014/main" id="{42806969-6811-4D6D-8485-38F83A63E2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15447" y="4530433"/>
            <a:ext cx="1974130" cy="1974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35808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REFERENCE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TextBox 2">
            <a:extLst>
              <a:ext uri="{FF2B5EF4-FFF2-40B4-BE49-F238E27FC236}">
                <a16:creationId xmlns:a16="http://schemas.microsoft.com/office/drawing/2014/main" id="{A3DA93C7-CC61-342D-C812-18282677232B}"/>
              </a:ext>
            </a:extLst>
          </p:cNvPr>
          <p:cNvSpPr txBox="1"/>
          <p:nvPr/>
        </p:nvSpPr>
        <p:spPr>
          <a:xfrm>
            <a:off x="1439671" y="934149"/>
            <a:ext cx="10343834" cy="5411330"/>
          </a:xfrm>
          <a:prstGeom prst="rect">
            <a:avLst/>
          </a:prstGeom>
          <a:noFill/>
        </p:spPr>
        <p:txBody>
          <a:bodyPr wrap="square">
            <a:spAutoFit/>
          </a:bodyPr>
          <a:lstStyle/>
          <a:p>
            <a:r>
              <a:rPr lang="en-US" sz="1500" b="0" i="0" dirty="0">
                <a:solidFill>
                  <a:srgbClr val="000000"/>
                </a:solidFill>
                <a:effectLst/>
                <a:latin typeface="NimbusRomNo9L-Regu"/>
              </a:rPr>
              <a:t>[1] P. Gong, K. Xu, Y. Wu, J. Zhang, and H. C. So, “Optimization</a:t>
            </a:r>
          </a:p>
          <a:p>
            <a:r>
              <a:rPr lang="en-US" sz="1500" b="0" i="0" dirty="0">
                <a:solidFill>
                  <a:srgbClr val="000000"/>
                </a:solidFill>
                <a:effectLst/>
                <a:latin typeface="NimbusRomNo9L-Regu"/>
              </a:rPr>
              <a:t>of LPI-FDA-MIMO radar and MIMO communication for spectrum coexistence,” </a:t>
            </a:r>
            <a:r>
              <a:rPr lang="en-US" sz="1500" b="0" i="1" dirty="0">
                <a:solidFill>
                  <a:srgbClr val="000000"/>
                </a:solidFill>
                <a:effectLst/>
                <a:latin typeface="NimbusRomNo9L-ReguItal"/>
              </a:rPr>
              <a:t>IEEE </a:t>
            </a:r>
            <a:r>
              <a:rPr lang="en-US" sz="1500" b="0" i="1" dirty="0" err="1">
                <a:solidFill>
                  <a:srgbClr val="000000"/>
                </a:solidFill>
                <a:effectLst/>
                <a:latin typeface="NimbusRomNo9L-ReguItal"/>
              </a:rPr>
              <a:t>Wirel</a:t>
            </a:r>
            <a:r>
              <a:rPr lang="en-US" sz="1500" b="0" i="1" dirty="0">
                <a:solidFill>
                  <a:srgbClr val="000000"/>
                </a:solidFill>
                <a:effectLst/>
                <a:latin typeface="NimbusRomNo9L-ReguItal"/>
              </a:rPr>
              <a:t>. </a:t>
            </a:r>
            <a:r>
              <a:rPr lang="en-US" sz="1500" b="0" i="1" dirty="0" err="1">
                <a:solidFill>
                  <a:srgbClr val="000000"/>
                </a:solidFill>
                <a:effectLst/>
                <a:latin typeface="NimbusRomNo9L-ReguItal"/>
              </a:rPr>
              <a:t>Commun</a:t>
            </a:r>
            <a:r>
              <a:rPr lang="en-US" sz="1500" b="0" i="1" dirty="0">
                <a:solidFill>
                  <a:srgbClr val="000000"/>
                </a:solidFill>
                <a:effectLst/>
                <a:latin typeface="NimbusRomNo9L-ReguItal"/>
              </a:rPr>
              <a:t>. Lett.</a:t>
            </a:r>
            <a:r>
              <a:rPr lang="en-US" sz="1500" b="0" i="0" dirty="0">
                <a:solidFill>
                  <a:srgbClr val="000000"/>
                </a:solidFill>
                <a:effectLst/>
                <a:latin typeface="NimbusRomNo9L-Regu"/>
              </a:rPr>
              <a:t>, 2023, Early Access.</a:t>
            </a:r>
          </a:p>
          <a:p>
            <a:r>
              <a:rPr lang="en-US" sz="1500" b="0" i="0" dirty="0">
                <a:solidFill>
                  <a:srgbClr val="000000"/>
                </a:solidFill>
                <a:effectLst/>
                <a:latin typeface="NimbusRomNo9L-Regu"/>
              </a:rPr>
              <a:t>[2] A. </a:t>
            </a:r>
            <a:r>
              <a:rPr lang="en-US" sz="1500" b="0" i="0" dirty="0" err="1">
                <a:solidFill>
                  <a:srgbClr val="000000"/>
                </a:solidFill>
                <a:effectLst/>
                <a:latin typeface="NimbusRomNo9L-Regu"/>
              </a:rPr>
              <a:t>Venon</a:t>
            </a:r>
            <a:r>
              <a:rPr lang="en-US" sz="1500" b="0" i="0" dirty="0">
                <a:solidFill>
                  <a:srgbClr val="000000"/>
                </a:solidFill>
                <a:effectLst/>
                <a:latin typeface="NimbusRomNo9L-Regu"/>
              </a:rPr>
              <a:t>, Y. Dupuis, P. </a:t>
            </a:r>
            <a:r>
              <a:rPr lang="en-US" sz="1500" b="0" i="0" dirty="0" err="1">
                <a:solidFill>
                  <a:srgbClr val="000000"/>
                </a:solidFill>
                <a:effectLst/>
                <a:latin typeface="NimbusRomNo9L-Regu"/>
              </a:rPr>
              <a:t>Vasseur</a:t>
            </a:r>
            <a:r>
              <a:rPr lang="en-US" sz="1500" b="0" i="0" dirty="0">
                <a:solidFill>
                  <a:srgbClr val="000000"/>
                </a:solidFill>
                <a:effectLst/>
                <a:latin typeface="NimbusRomNo9L-Regu"/>
              </a:rPr>
              <a:t>, and P. </a:t>
            </a:r>
            <a:r>
              <a:rPr lang="en-US" sz="1500" b="0" i="0" dirty="0" err="1">
                <a:solidFill>
                  <a:srgbClr val="000000"/>
                </a:solidFill>
                <a:effectLst/>
                <a:latin typeface="NimbusRomNo9L-Regu"/>
              </a:rPr>
              <a:t>Merriaux</a:t>
            </a:r>
            <a:r>
              <a:rPr lang="en-US" sz="1500" b="0" i="0" dirty="0">
                <a:solidFill>
                  <a:srgbClr val="000000"/>
                </a:solidFill>
                <a:effectLst/>
                <a:latin typeface="NimbusRomNo9L-Regu"/>
              </a:rPr>
              <a:t>, “Millimeter wave</a:t>
            </a:r>
          </a:p>
          <a:p>
            <a:r>
              <a:rPr lang="en-US" sz="1500" b="0" i="0" dirty="0">
                <a:solidFill>
                  <a:srgbClr val="000000"/>
                </a:solidFill>
                <a:effectLst/>
                <a:latin typeface="NimbusRomNo9L-Regu"/>
              </a:rPr>
              <a:t>FMCW RADARs for perception, recognition and localization in automotive applications: A survey,” </a:t>
            </a:r>
            <a:r>
              <a:rPr lang="en-US" sz="1500" b="0" i="1" dirty="0">
                <a:solidFill>
                  <a:srgbClr val="000000"/>
                </a:solidFill>
                <a:effectLst/>
                <a:latin typeface="NimbusRomNo9L-ReguItal"/>
              </a:rPr>
              <a:t>IEEE Trans. </a:t>
            </a:r>
            <a:r>
              <a:rPr lang="en-US" sz="1500" b="0" i="1" dirty="0" err="1">
                <a:solidFill>
                  <a:srgbClr val="000000"/>
                </a:solidFill>
                <a:effectLst/>
                <a:latin typeface="NimbusRomNo9L-ReguItal"/>
              </a:rPr>
              <a:t>Intell</a:t>
            </a:r>
            <a:r>
              <a:rPr lang="en-US" sz="1500" b="0" i="1" dirty="0">
                <a:solidFill>
                  <a:srgbClr val="000000"/>
                </a:solidFill>
                <a:effectLst/>
                <a:latin typeface="NimbusRomNo9L-ReguItal"/>
              </a:rPr>
              <a:t>. Veh.</a:t>
            </a:r>
            <a:r>
              <a:rPr lang="en-US" sz="1500" b="0" i="0" dirty="0">
                <a:solidFill>
                  <a:srgbClr val="000000"/>
                </a:solidFill>
                <a:effectLst/>
                <a:latin typeface="NimbusRomNo9L-Regu"/>
              </a:rPr>
              <a:t>, vol. 7, no. 3, pp. 533–555, Sep. 2022.</a:t>
            </a:r>
          </a:p>
          <a:p>
            <a:r>
              <a:rPr lang="en-US" sz="1500" b="0" i="0" dirty="0">
                <a:solidFill>
                  <a:srgbClr val="000000"/>
                </a:solidFill>
                <a:effectLst/>
                <a:latin typeface="NimbusRomNo9L-Regu"/>
              </a:rPr>
              <a:t>[3] S. Zheng, S. Chen, P. Qi, H. Zhou, and X. Yang, “Spectrum sensing</a:t>
            </a:r>
          </a:p>
          <a:p>
            <a:r>
              <a:rPr lang="en-US" sz="1500" b="0" i="0" dirty="0">
                <a:solidFill>
                  <a:srgbClr val="000000"/>
                </a:solidFill>
                <a:effectLst/>
                <a:latin typeface="NimbusRomNo9L-Regu"/>
              </a:rPr>
              <a:t>based on deep learning classification for cognitive radios,” </a:t>
            </a:r>
            <a:r>
              <a:rPr lang="en-US" sz="1500" b="0" i="1" dirty="0">
                <a:solidFill>
                  <a:srgbClr val="000000"/>
                </a:solidFill>
                <a:effectLst/>
                <a:latin typeface="NimbusRomNo9L-ReguItal"/>
              </a:rPr>
              <a:t>China </a:t>
            </a:r>
            <a:r>
              <a:rPr lang="en-US" sz="1500" b="0" i="1" dirty="0" err="1">
                <a:solidFill>
                  <a:srgbClr val="000000"/>
                </a:solidFill>
                <a:effectLst/>
                <a:latin typeface="NimbusRomNo9L-ReguItal"/>
              </a:rPr>
              <a:t>Commun</a:t>
            </a:r>
            <a:r>
              <a:rPr lang="en-US" sz="1500" b="0" i="1" dirty="0">
                <a:solidFill>
                  <a:srgbClr val="000000"/>
                </a:solidFill>
                <a:effectLst/>
                <a:latin typeface="NimbusRomNo9L-ReguItal"/>
              </a:rPr>
              <a:t>.</a:t>
            </a:r>
            <a:r>
              <a:rPr lang="en-US" sz="1500" b="0" i="0" dirty="0">
                <a:solidFill>
                  <a:srgbClr val="000000"/>
                </a:solidFill>
                <a:effectLst/>
                <a:latin typeface="NimbusRomNo9L-Regu"/>
              </a:rPr>
              <a:t>, vol. 17, no. 2, pp. 138–148, Feb. 2020.</a:t>
            </a:r>
          </a:p>
          <a:p>
            <a:r>
              <a:rPr lang="en-US" sz="1500" b="0" i="0" dirty="0">
                <a:solidFill>
                  <a:srgbClr val="000000"/>
                </a:solidFill>
                <a:effectLst/>
                <a:latin typeface="NimbusRomNo9L-Regu"/>
              </a:rPr>
              <a:t>[4] A. Lin, Z. Ma, Z. Huang, Y. Xia, and W. Yu, “Unknown radar waveform</a:t>
            </a:r>
          </a:p>
          <a:p>
            <a:r>
              <a:rPr lang="en-US" sz="1500" b="0" i="0" dirty="0">
                <a:solidFill>
                  <a:srgbClr val="000000"/>
                </a:solidFill>
                <a:effectLst/>
                <a:latin typeface="NimbusRomNo9L-Regu"/>
              </a:rPr>
              <a:t>recognition based on transferred deep learning,” </a:t>
            </a:r>
            <a:r>
              <a:rPr lang="en-US" sz="1500" b="0" i="1" dirty="0">
                <a:solidFill>
                  <a:srgbClr val="000000"/>
                </a:solidFill>
                <a:effectLst/>
                <a:latin typeface="NimbusRomNo9L-ReguItal"/>
              </a:rPr>
              <a:t>IEEE Access</a:t>
            </a:r>
            <a:r>
              <a:rPr lang="en-US" sz="1500" b="0" i="0" dirty="0">
                <a:solidFill>
                  <a:srgbClr val="000000"/>
                </a:solidFill>
                <a:effectLst/>
                <a:latin typeface="NimbusRomNo9L-Regu"/>
              </a:rPr>
              <a:t>, vol. 8, pp.</a:t>
            </a:r>
          </a:p>
          <a:p>
            <a:r>
              <a:rPr lang="en-US" sz="1500" b="0" i="0" dirty="0">
                <a:solidFill>
                  <a:srgbClr val="000000"/>
                </a:solidFill>
                <a:effectLst/>
                <a:latin typeface="NimbusRomNo9L-Regu"/>
              </a:rPr>
              <a:t>184 793–184 807, 2020.</a:t>
            </a:r>
          </a:p>
          <a:p>
            <a:r>
              <a:rPr lang="en-US" sz="1500" b="0" i="0" dirty="0">
                <a:solidFill>
                  <a:srgbClr val="000000"/>
                </a:solidFill>
                <a:effectLst/>
                <a:latin typeface="NimbusRomNo9L-Regu"/>
              </a:rPr>
              <a:t>[5] G. Kong, M. Jung, and V. </a:t>
            </a:r>
            <a:r>
              <a:rPr lang="en-US" sz="1500" b="0" i="0" dirty="0" err="1">
                <a:solidFill>
                  <a:srgbClr val="000000"/>
                </a:solidFill>
                <a:effectLst/>
                <a:latin typeface="NimbusRomNo9L-Regu"/>
              </a:rPr>
              <a:t>Koivunen</a:t>
            </a:r>
            <a:r>
              <a:rPr lang="en-US" sz="1500" b="0" i="0" dirty="0">
                <a:solidFill>
                  <a:srgbClr val="000000"/>
                </a:solidFill>
                <a:effectLst/>
                <a:latin typeface="NimbusRomNo9L-Regu"/>
              </a:rPr>
              <a:t>, “Waveform recognition in multipath</a:t>
            </a:r>
          </a:p>
          <a:p>
            <a:r>
              <a:rPr lang="en-US" sz="1500" b="0" i="0" dirty="0">
                <a:solidFill>
                  <a:srgbClr val="000000"/>
                </a:solidFill>
                <a:effectLst/>
                <a:latin typeface="NimbusRomNo9L-Regu"/>
              </a:rPr>
              <a:t>fading using autoencoder and CNN with </a:t>
            </a:r>
            <a:r>
              <a:rPr lang="en-US" sz="1500" b="0" i="0" dirty="0" err="1">
                <a:solidFill>
                  <a:srgbClr val="000000"/>
                </a:solidFill>
                <a:effectLst/>
                <a:latin typeface="NimbusRomNo9L-Regu"/>
              </a:rPr>
              <a:t>fourier</a:t>
            </a:r>
            <a:r>
              <a:rPr lang="en-US" sz="1500" b="0" i="0" dirty="0">
                <a:solidFill>
                  <a:srgbClr val="000000"/>
                </a:solidFill>
                <a:effectLst/>
                <a:latin typeface="NimbusRomNo9L-Regu"/>
              </a:rPr>
              <a:t> </a:t>
            </a:r>
            <a:r>
              <a:rPr lang="en-US" sz="1500" b="0" i="0" dirty="0" err="1">
                <a:solidFill>
                  <a:srgbClr val="000000"/>
                </a:solidFill>
                <a:effectLst/>
                <a:latin typeface="NimbusRomNo9L-Regu"/>
              </a:rPr>
              <a:t>synchrosqueezing</a:t>
            </a:r>
            <a:r>
              <a:rPr lang="en-US" sz="1500" b="0" i="0" dirty="0">
                <a:solidFill>
                  <a:srgbClr val="000000"/>
                </a:solidFill>
                <a:effectLst/>
                <a:latin typeface="NimbusRomNo9L-Regu"/>
              </a:rPr>
              <a:t> transform,” in </a:t>
            </a:r>
            <a:r>
              <a:rPr lang="en-US" sz="1500" b="0" i="1" dirty="0">
                <a:solidFill>
                  <a:srgbClr val="000000"/>
                </a:solidFill>
                <a:effectLst/>
                <a:latin typeface="NimbusRomNo9L-ReguItal"/>
              </a:rPr>
              <a:t>Proc. IEEE RADAR</a:t>
            </a:r>
            <a:r>
              <a:rPr lang="en-US" sz="1500" b="0" i="0" dirty="0">
                <a:solidFill>
                  <a:srgbClr val="000000"/>
                </a:solidFill>
                <a:effectLst/>
                <a:latin typeface="NimbusRomNo9L-Regu"/>
              </a:rPr>
              <a:t>, 2020, pp. 612–617.</a:t>
            </a:r>
          </a:p>
          <a:p>
            <a:r>
              <a:rPr lang="en-US" sz="1500" b="0" i="0" dirty="0">
                <a:solidFill>
                  <a:srgbClr val="000000"/>
                </a:solidFill>
                <a:effectLst/>
                <a:latin typeface="NimbusRomNo9L-Regu"/>
              </a:rPr>
              <a:t>[6] H. Huang, Y. Li, J. Liu, D. Shen, G. Chen, E. </a:t>
            </a:r>
            <a:r>
              <a:rPr lang="en-US" sz="1500" b="0" i="0" dirty="0" err="1">
                <a:solidFill>
                  <a:srgbClr val="000000"/>
                </a:solidFill>
                <a:effectLst/>
                <a:latin typeface="NimbusRomNo9L-Regu"/>
              </a:rPr>
              <a:t>Blasch</a:t>
            </a:r>
            <a:r>
              <a:rPr lang="en-US" sz="1500" b="0" i="0" dirty="0">
                <a:solidFill>
                  <a:srgbClr val="000000"/>
                </a:solidFill>
                <a:effectLst/>
                <a:latin typeface="NimbusRomNo9L-Regu"/>
              </a:rPr>
              <a:t>, and K. Pham,</a:t>
            </a:r>
          </a:p>
          <a:p>
            <a:r>
              <a:rPr lang="en-US" sz="1500" b="0" i="0" dirty="0">
                <a:solidFill>
                  <a:srgbClr val="000000"/>
                </a:solidFill>
                <a:effectLst/>
                <a:latin typeface="NimbusRomNo9L-Regu"/>
              </a:rPr>
              <a:t>“LPI waveform recognition using adaptive feature construction and convolutional neural networks,” </a:t>
            </a:r>
            <a:r>
              <a:rPr lang="en-US" sz="1500" b="0" i="1" dirty="0">
                <a:solidFill>
                  <a:srgbClr val="000000"/>
                </a:solidFill>
                <a:effectLst/>
                <a:latin typeface="NimbusRomNo9L-ReguItal"/>
              </a:rPr>
              <a:t>IEEE </a:t>
            </a:r>
            <a:r>
              <a:rPr lang="en-US" sz="1500" b="0" i="1" dirty="0" err="1">
                <a:solidFill>
                  <a:srgbClr val="000000"/>
                </a:solidFill>
                <a:effectLst/>
                <a:latin typeface="NimbusRomNo9L-ReguItal"/>
              </a:rPr>
              <a:t>Aerosp</a:t>
            </a:r>
            <a:r>
              <a:rPr lang="en-US" sz="1500" b="0" i="1" dirty="0">
                <a:solidFill>
                  <a:srgbClr val="000000"/>
                </a:solidFill>
                <a:effectLst/>
                <a:latin typeface="NimbusRomNo9L-ReguItal"/>
              </a:rPr>
              <a:t>. Electron. Syst. Mag.</a:t>
            </a:r>
            <a:r>
              <a:rPr lang="en-US" sz="1500" b="0" i="0" dirty="0">
                <a:solidFill>
                  <a:srgbClr val="000000"/>
                </a:solidFill>
                <a:effectLst/>
                <a:latin typeface="NimbusRomNo9L-Regu"/>
              </a:rPr>
              <a:t>, vol. 38, no. 4, pp. 14–26, Apr. 2023.</a:t>
            </a:r>
          </a:p>
          <a:p>
            <a:r>
              <a:rPr lang="en-US" sz="1500" b="0" i="0" dirty="0">
                <a:solidFill>
                  <a:srgbClr val="000000"/>
                </a:solidFill>
                <a:effectLst/>
                <a:latin typeface="NimbusRomNo9L-Regu"/>
              </a:rPr>
              <a:t>[7] L. Shen, D. Quan, X. Wang, X. Jin, and N. Jin, “Radar waveform</a:t>
            </a:r>
          </a:p>
          <a:p>
            <a:r>
              <a:rPr lang="en-US" sz="1500" b="0" i="0" dirty="0">
                <a:solidFill>
                  <a:srgbClr val="000000"/>
                </a:solidFill>
                <a:effectLst/>
                <a:latin typeface="NimbusRomNo9L-Regu"/>
              </a:rPr>
              <a:t>recognition based on time-frequency images under deteriorating channel conditions,” in </a:t>
            </a:r>
            <a:r>
              <a:rPr lang="en-US" sz="1500" b="0" i="1" dirty="0">
                <a:solidFill>
                  <a:srgbClr val="000000"/>
                </a:solidFill>
                <a:effectLst/>
                <a:latin typeface="NimbusRomNo9L-ReguItal"/>
              </a:rPr>
              <a:t>Proc. IEEE ICCC</a:t>
            </a:r>
            <a:r>
              <a:rPr lang="en-US" sz="1500" b="0" i="0" dirty="0">
                <a:solidFill>
                  <a:srgbClr val="000000"/>
                </a:solidFill>
                <a:effectLst/>
                <a:latin typeface="NimbusRomNo9L-Regu"/>
              </a:rPr>
              <a:t>, China, Dec. 2022, pp. 188–192.</a:t>
            </a:r>
          </a:p>
          <a:p>
            <a:r>
              <a:rPr lang="en-US" sz="1500" b="0" i="0" dirty="0">
                <a:solidFill>
                  <a:srgbClr val="000000"/>
                </a:solidFill>
                <a:effectLst/>
                <a:latin typeface="NimbusRomNo9L-Regu"/>
              </a:rPr>
              <a:t>[8] I. </a:t>
            </a:r>
            <a:r>
              <a:rPr lang="en-US" sz="1500" b="0" i="0" dirty="0" err="1">
                <a:solidFill>
                  <a:srgbClr val="000000"/>
                </a:solidFill>
                <a:effectLst/>
                <a:latin typeface="NimbusRomNo9L-Regu"/>
              </a:rPr>
              <a:t>Guven</a:t>
            </a:r>
            <a:r>
              <a:rPr lang="en-US" sz="1500" b="0" i="0" dirty="0">
                <a:solidFill>
                  <a:srgbClr val="000000"/>
                </a:solidFill>
                <a:effectLst/>
                <a:latin typeface="NimbusRomNo9L-Regu"/>
              </a:rPr>
              <a:t>, C. </a:t>
            </a:r>
            <a:r>
              <a:rPr lang="en-US" sz="1500" b="0" i="0" dirty="0" err="1">
                <a:solidFill>
                  <a:srgbClr val="000000"/>
                </a:solidFill>
                <a:effectLst/>
                <a:latin typeface="NimbusRomNo9L-Regu"/>
              </a:rPr>
              <a:t>Yagmur</a:t>
            </a:r>
            <a:r>
              <a:rPr lang="en-US" sz="1500" b="0" i="0" dirty="0">
                <a:solidFill>
                  <a:srgbClr val="000000"/>
                </a:solidFill>
                <a:effectLst/>
                <a:latin typeface="NimbusRomNo9L-Regu"/>
              </a:rPr>
              <a:t>, B. </a:t>
            </a:r>
            <a:r>
              <a:rPr lang="en-US" sz="1500" b="0" i="0" dirty="0" err="1">
                <a:solidFill>
                  <a:srgbClr val="000000"/>
                </a:solidFill>
                <a:effectLst/>
                <a:latin typeface="NimbusRomNo9L-Regu"/>
              </a:rPr>
              <a:t>Karadas</a:t>
            </a:r>
            <a:r>
              <a:rPr lang="en-US" sz="1500" b="0" i="0" dirty="0">
                <a:solidFill>
                  <a:srgbClr val="000000"/>
                </a:solidFill>
                <a:effectLst/>
                <a:latin typeface="NimbusRomNo9L-Regu"/>
              </a:rPr>
              <a:t>, and M. Parlak, “Classifying LPI radar</a:t>
            </a:r>
          </a:p>
          <a:p>
            <a:r>
              <a:rPr lang="en-US" sz="1500" b="0" i="0" dirty="0">
                <a:solidFill>
                  <a:srgbClr val="000000"/>
                </a:solidFill>
                <a:effectLst/>
                <a:latin typeface="NimbusRomNo9L-Regu"/>
              </a:rPr>
              <a:t>waveforms with time-frequency transformations using multi-stage CNN system,” in </a:t>
            </a:r>
            <a:r>
              <a:rPr lang="en-US" sz="1500" b="0" i="1" dirty="0">
                <a:solidFill>
                  <a:srgbClr val="000000"/>
                </a:solidFill>
                <a:effectLst/>
                <a:latin typeface="NimbusRomNo9L-ReguItal"/>
              </a:rPr>
              <a:t>Proc. 23rd IRS</a:t>
            </a:r>
            <a:r>
              <a:rPr lang="en-US" sz="1500" b="0" i="0" dirty="0">
                <a:solidFill>
                  <a:srgbClr val="000000"/>
                </a:solidFill>
                <a:effectLst/>
                <a:latin typeface="NimbusRomNo9L-Regu"/>
              </a:rPr>
              <a:t>, Gdansk, Poland, Sep. 2022, pp. 501–506.</a:t>
            </a:r>
          </a:p>
          <a:p>
            <a:br>
              <a:rPr lang="en-US" sz="1500" dirty="0"/>
            </a:br>
            <a:endParaRPr lang="en-US" sz="1500" dirty="0"/>
          </a:p>
        </p:txBody>
      </p:sp>
    </p:spTree>
    <p:extLst>
      <p:ext uri="{BB962C8B-B14F-4D97-AF65-F5344CB8AC3E}">
        <p14:creationId xmlns:p14="http://schemas.microsoft.com/office/powerpoint/2010/main" val="3306578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REFERENCE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TextBox 2">
            <a:extLst>
              <a:ext uri="{FF2B5EF4-FFF2-40B4-BE49-F238E27FC236}">
                <a16:creationId xmlns:a16="http://schemas.microsoft.com/office/drawing/2014/main" id="{A3DA93C7-CC61-342D-C812-18282677232B}"/>
              </a:ext>
            </a:extLst>
          </p:cNvPr>
          <p:cNvSpPr txBox="1"/>
          <p:nvPr/>
        </p:nvSpPr>
        <p:spPr>
          <a:xfrm>
            <a:off x="1439671" y="934149"/>
            <a:ext cx="10343834" cy="4247317"/>
          </a:xfrm>
          <a:prstGeom prst="rect">
            <a:avLst/>
          </a:prstGeom>
          <a:noFill/>
        </p:spPr>
        <p:txBody>
          <a:bodyPr wrap="square">
            <a:spAutoFit/>
          </a:bodyPr>
          <a:lstStyle/>
          <a:p>
            <a:r>
              <a:rPr lang="en-US" sz="1500" b="0" i="0" dirty="0">
                <a:solidFill>
                  <a:srgbClr val="000000"/>
                </a:solidFill>
                <a:effectLst/>
                <a:latin typeface="NimbusRomNo9L-Regu"/>
              </a:rPr>
              <a:t>[9] G. Kong, M. Jung, and V. </a:t>
            </a:r>
            <a:r>
              <a:rPr lang="en-US" sz="1500" b="0" i="0" dirty="0" err="1">
                <a:solidFill>
                  <a:srgbClr val="000000"/>
                </a:solidFill>
                <a:effectLst/>
                <a:latin typeface="NimbusRomNo9L-Regu"/>
              </a:rPr>
              <a:t>Koivunen</a:t>
            </a:r>
            <a:r>
              <a:rPr lang="en-US" sz="1500" b="0" i="0" dirty="0">
                <a:solidFill>
                  <a:srgbClr val="000000"/>
                </a:solidFill>
                <a:effectLst/>
                <a:latin typeface="NimbusRomNo9L-Regu"/>
              </a:rPr>
              <a:t>, “Waveform classification in </a:t>
            </a:r>
            <a:r>
              <a:rPr lang="en-US" sz="1500" b="0" i="0" dirty="0" err="1">
                <a:solidFill>
                  <a:srgbClr val="000000"/>
                </a:solidFill>
                <a:effectLst/>
                <a:latin typeface="NimbusRomNo9L-Regu"/>
              </a:rPr>
              <a:t>radarcommunications</a:t>
            </a:r>
            <a:r>
              <a:rPr lang="en-US" sz="1500" b="0" i="0" dirty="0">
                <a:solidFill>
                  <a:srgbClr val="000000"/>
                </a:solidFill>
                <a:effectLst/>
                <a:latin typeface="NimbusRomNo9L-Regu"/>
              </a:rPr>
              <a:t> coexistence scenarios,” in </a:t>
            </a:r>
            <a:r>
              <a:rPr lang="en-US" sz="1500" b="0" i="1" dirty="0">
                <a:solidFill>
                  <a:srgbClr val="000000"/>
                </a:solidFill>
                <a:effectLst/>
                <a:latin typeface="NimbusRomNo9L-ReguItal"/>
              </a:rPr>
              <a:t>Proc. IEEE GLOBECOM</a:t>
            </a:r>
            <a:r>
              <a:rPr lang="en-US" sz="1500" b="0" i="0" dirty="0">
                <a:solidFill>
                  <a:srgbClr val="000000"/>
                </a:solidFill>
                <a:effectLst/>
                <a:latin typeface="NimbusRomNo9L-Regu"/>
              </a:rPr>
              <a:t>, Taipei, Taiwan, Dec. 2020, pp. 1–6.</a:t>
            </a:r>
          </a:p>
          <a:p>
            <a:r>
              <a:rPr lang="en-US" sz="1500" b="0" i="0" dirty="0">
                <a:solidFill>
                  <a:srgbClr val="000000"/>
                </a:solidFill>
                <a:effectLst/>
                <a:latin typeface="NimbusRomNo9L-Regu"/>
              </a:rPr>
              <a:t>[10] T. Huynh-The, Q.-V. Pham, T.-V. Nguyen, D. B. da Costa, and D.-</a:t>
            </a:r>
          </a:p>
          <a:p>
            <a:r>
              <a:rPr lang="en-US" sz="1500" b="0" i="0" dirty="0">
                <a:solidFill>
                  <a:srgbClr val="000000"/>
                </a:solidFill>
                <a:effectLst/>
                <a:latin typeface="NimbusRomNo9L-Regu"/>
              </a:rPr>
              <a:t>S. Kim, “</a:t>
            </a:r>
            <a:r>
              <a:rPr lang="en-US" sz="1500" b="0" i="0" dirty="0" err="1">
                <a:solidFill>
                  <a:srgbClr val="000000"/>
                </a:solidFill>
                <a:effectLst/>
                <a:latin typeface="NimbusRomNo9L-Regu"/>
              </a:rPr>
              <a:t>RaComNet</a:t>
            </a:r>
            <a:r>
              <a:rPr lang="en-US" sz="1500" b="0" i="0" dirty="0">
                <a:solidFill>
                  <a:srgbClr val="000000"/>
                </a:solidFill>
                <a:effectLst/>
                <a:latin typeface="NimbusRomNo9L-Regu"/>
              </a:rPr>
              <a:t>: High-performance deep network for waveform</a:t>
            </a:r>
          </a:p>
          <a:p>
            <a:r>
              <a:rPr lang="en-US" sz="1500" b="0" i="0" dirty="0">
                <a:solidFill>
                  <a:srgbClr val="000000"/>
                </a:solidFill>
                <a:effectLst/>
                <a:latin typeface="NimbusRomNo9L-Regu"/>
              </a:rPr>
              <a:t>recognition in coexistence radar-communication systems,” in </a:t>
            </a:r>
            <a:r>
              <a:rPr lang="en-US" sz="1500" b="0" i="1" dirty="0">
                <a:solidFill>
                  <a:srgbClr val="000000"/>
                </a:solidFill>
                <a:effectLst/>
                <a:latin typeface="NimbusRomNo9L-ReguItal"/>
              </a:rPr>
              <a:t>Proc. IEEE</a:t>
            </a:r>
          </a:p>
          <a:p>
            <a:r>
              <a:rPr lang="en-US" sz="1500" b="0" i="1" dirty="0">
                <a:solidFill>
                  <a:srgbClr val="000000"/>
                </a:solidFill>
                <a:effectLst/>
                <a:latin typeface="NimbusRomNo9L-ReguItal"/>
              </a:rPr>
              <a:t>ICC</a:t>
            </a:r>
            <a:r>
              <a:rPr lang="en-US" sz="1500" b="0" i="0" dirty="0">
                <a:solidFill>
                  <a:srgbClr val="000000"/>
                </a:solidFill>
                <a:effectLst/>
                <a:latin typeface="NimbusRomNo9L-Regu"/>
              </a:rPr>
              <a:t>, Seoul, South Korea, May 2022, pp. 1–6.</a:t>
            </a:r>
          </a:p>
          <a:p>
            <a:r>
              <a:rPr lang="en-US" sz="1500" b="0" i="0" dirty="0">
                <a:solidFill>
                  <a:srgbClr val="000000"/>
                </a:solidFill>
                <a:effectLst/>
                <a:latin typeface="NimbusRomNo9L-Regu"/>
              </a:rPr>
              <a:t>[11] D. </a:t>
            </a:r>
            <a:r>
              <a:rPr lang="en-US" sz="1500" b="0" i="0" dirty="0" err="1">
                <a:solidFill>
                  <a:srgbClr val="000000"/>
                </a:solidFill>
                <a:effectLst/>
                <a:latin typeface="NimbusRomNo9L-Regu"/>
              </a:rPr>
              <a:t>Soydaner</a:t>
            </a:r>
            <a:r>
              <a:rPr lang="en-US" sz="1500" b="0" i="0" dirty="0">
                <a:solidFill>
                  <a:srgbClr val="000000"/>
                </a:solidFill>
                <a:effectLst/>
                <a:latin typeface="NimbusRomNo9L-Regu"/>
              </a:rPr>
              <a:t>, “Attention mechanism in neural networks: where it comes</a:t>
            </a:r>
          </a:p>
          <a:p>
            <a:r>
              <a:rPr lang="en-US" sz="1500" b="0" i="0" dirty="0">
                <a:solidFill>
                  <a:srgbClr val="000000"/>
                </a:solidFill>
                <a:effectLst/>
                <a:latin typeface="NimbusRomNo9L-Regu"/>
              </a:rPr>
              <a:t>and where it goes,” </a:t>
            </a:r>
            <a:r>
              <a:rPr lang="en-US" sz="1500" b="0" i="1" dirty="0">
                <a:solidFill>
                  <a:srgbClr val="000000"/>
                </a:solidFill>
                <a:effectLst/>
                <a:latin typeface="NimbusRomNo9L-ReguItal"/>
              </a:rPr>
              <a:t>Neural Computing and Applications</a:t>
            </a:r>
            <a:r>
              <a:rPr lang="en-US" sz="1500" b="0" i="0" dirty="0">
                <a:solidFill>
                  <a:srgbClr val="000000"/>
                </a:solidFill>
                <a:effectLst/>
                <a:latin typeface="NimbusRomNo9L-Regu"/>
              </a:rPr>
              <a:t>, vol. 34, no. 16, pp. 13 371–13 385, 2022.</a:t>
            </a:r>
          </a:p>
          <a:p>
            <a:r>
              <a:rPr lang="en-US" sz="1500" b="0" i="0" dirty="0">
                <a:solidFill>
                  <a:srgbClr val="000000"/>
                </a:solidFill>
                <a:effectLst/>
                <a:latin typeface="NimbusRomNo9L-Regu"/>
              </a:rPr>
              <a:t>[12] M. Sandler, A. Howard, M. Zhu, A. </a:t>
            </a:r>
            <a:r>
              <a:rPr lang="en-US" sz="1500" b="0" i="0" dirty="0" err="1">
                <a:solidFill>
                  <a:srgbClr val="000000"/>
                </a:solidFill>
                <a:effectLst/>
                <a:latin typeface="NimbusRomNo9L-Regu"/>
              </a:rPr>
              <a:t>Zhmoginov</a:t>
            </a:r>
            <a:r>
              <a:rPr lang="en-US" sz="1500" b="0" i="0" dirty="0">
                <a:solidFill>
                  <a:srgbClr val="000000"/>
                </a:solidFill>
                <a:effectLst/>
                <a:latin typeface="NimbusRomNo9L-Regu"/>
              </a:rPr>
              <a:t>, and L.-C. Chen,</a:t>
            </a:r>
          </a:p>
          <a:p>
            <a:r>
              <a:rPr lang="en-US" sz="1500" b="0" i="0" dirty="0">
                <a:solidFill>
                  <a:srgbClr val="000000"/>
                </a:solidFill>
                <a:effectLst/>
                <a:latin typeface="NimbusRomNo9L-Regu"/>
              </a:rPr>
              <a:t>“MobileNetV2: Inverted residuals and linear bottlenecks,”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2018, pp. 4510–4520.</a:t>
            </a:r>
          </a:p>
          <a:p>
            <a:r>
              <a:rPr lang="en-US" sz="1500" b="0" i="0" dirty="0">
                <a:solidFill>
                  <a:srgbClr val="000000"/>
                </a:solidFill>
                <a:effectLst/>
                <a:latin typeface="NimbusRomNo9L-Regu"/>
              </a:rPr>
              <a:t>[13] K. He, X. Zhang, S. Ren, and J. Sun, “Deep residual learning for image</a:t>
            </a:r>
          </a:p>
          <a:p>
            <a:r>
              <a:rPr lang="en-US" sz="1500" b="0" i="0" dirty="0">
                <a:solidFill>
                  <a:srgbClr val="000000"/>
                </a:solidFill>
                <a:effectLst/>
                <a:latin typeface="NimbusRomNo9L-Regu"/>
              </a:rPr>
              <a:t>recognition,”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2016, pp. 770–778.</a:t>
            </a:r>
          </a:p>
          <a:p>
            <a:r>
              <a:rPr lang="en-US" sz="1500" b="0" i="0" dirty="0">
                <a:solidFill>
                  <a:srgbClr val="000000"/>
                </a:solidFill>
                <a:effectLst/>
                <a:latin typeface="NimbusRomNo9L-Regu"/>
              </a:rPr>
              <a:t>[14] C. </a:t>
            </a:r>
            <a:r>
              <a:rPr lang="en-US" sz="1500" b="0" i="0" dirty="0" err="1">
                <a:solidFill>
                  <a:srgbClr val="000000"/>
                </a:solidFill>
                <a:effectLst/>
                <a:latin typeface="NimbusRomNo9L-Regu"/>
              </a:rPr>
              <a:t>Szegedy</a:t>
            </a:r>
            <a:r>
              <a:rPr lang="en-US" sz="1500" b="0" i="0" dirty="0">
                <a:solidFill>
                  <a:srgbClr val="000000"/>
                </a:solidFill>
                <a:effectLst/>
                <a:latin typeface="NimbusRomNo9L-Regu"/>
              </a:rPr>
              <a:t>, V. </a:t>
            </a:r>
            <a:r>
              <a:rPr lang="en-US" sz="1500" b="0" i="0" dirty="0" err="1">
                <a:solidFill>
                  <a:srgbClr val="000000"/>
                </a:solidFill>
                <a:effectLst/>
                <a:latin typeface="NimbusRomNo9L-Regu"/>
              </a:rPr>
              <a:t>Vanhoucke</a:t>
            </a:r>
            <a:r>
              <a:rPr lang="en-US" sz="1500" b="0" i="0" dirty="0">
                <a:solidFill>
                  <a:srgbClr val="000000"/>
                </a:solidFill>
                <a:effectLst/>
                <a:latin typeface="NimbusRomNo9L-Regu"/>
              </a:rPr>
              <a:t>, S. </a:t>
            </a:r>
            <a:r>
              <a:rPr lang="en-US" sz="1500" b="0" i="0" dirty="0" err="1">
                <a:solidFill>
                  <a:srgbClr val="000000"/>
                </a:solidFill>
                <a:effectLst/>
                <a:latin typeface="NimbusRomNo9L-Regu"/>
              </a:rPr>
              <a:t>Ioffe</a:t>
            </a:r>
            <a:r>
              <a:rPr lang="en-US" sz="1500" b="0" i="0" dirty="0">
                <a:solidFill>
                  <a:srgbClr val="000000"/>
                </a:solidFill>
                <a:effectLst/>
                <a:latin typeface="NimbusRomNo9L-Regu"/>
              </a:rPr>
              <a:t>, J. </a:t>
            </a:r>
            <a:r>
              <a:rPr lang="en-US" sz="1500" b="0" i="0" dirty="0" err="1">
                <a:solidFill>
                  <a:srgbClr val="000000"/>
                </a:solidFill>
                <a:effectLst/>
                <a:latin typeface="NimbusRomNo9L-Regu"/>
              </a:rPr>
              <a:t>Shlens</a:t>
            </a:r>
            <a:r>
              <a:rPr lang="en-US" sz="1500" b="0" i="0" dirty="0">
                <a:solidFill>
                  <a:srgbClr val="000000"/>
                </a:solidFill>
                <a:effectLst/>
                <a:latin typeface="NimbusRomNo9L-Regu"/>
              </a:rPr>
              <a:t>, and Z. </a:t>
            </a:r>
            <a:r>
              <a:rPr lang="en-US" sz="1500" b="0" i="0" dirty="0" err="1">
                <a:solidFill>
                  <a:srgbClr val="000000"/>
                </a:solidFill>
                <a:effectLst/>
                <a:latin typeface="NimbusRomNo9L-Regu"/>
              </a:rPr>
              <a:t>Wojna</a:t>
            </a:r>
            <a:r>
              <a:rPr lang="en-US" sz="1500" b="0" i="0" dirty="0">
                <a:solidFill>
                  <a:srgbClr val="000000"/>
                </a:solidFill>
                <a:effectLst/>
                <a:latin typeface="NimbusRomNo9L-Regu"/>
              </a:rPr>
              <a:t>, “Rethinking</a:t>
            </a:r>
          </a:p>
          <a:p>
            <a:r>
              <a:rPr lang="en-US" sz="1500" b="0" i="0" dirty="0">
                <a:solidFill>
                  <a:srgbClr val="000000"/>
                </a:solidFill>
                <a:effectLst/>
                <a:latin typeface="NimbusRomNo9L-Regu"/>
              </a:rPr>
              <a:t>the inception architecture for computer vision,”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2016, pp. 2818–2826.</a:t>
            </a:r>
          </a:p>
          <a:p>
            <a:r>
              <a:rPr lang="en-US" sz="1500" b="0" i="0" dirty="0">
                <a:solidFill>
                  <a:srgbClr val="000000"/>
                </a:solidFill>
                <a:effectLst/>
                <a:latin typeface="NimbusRomNo9L-Regu"/>
              </a:rPr>
              <a:t>[15] M. Tan and Q. Le, “</a:t>
            </a:r>
            <a:r>
              <a:rPr lang="en-US" sz="1500" b="0" i="0" dirty="0" err="1">
                <a:solidFill>
                  <a:srgbClr val="000000"/>
                </a:solidFill>
                <a:effectLst/>
                <a:latin typeface="NimbusRomNo9L-Regu"/>
              </a:rPr>
              <a:t>Efficientnet</a:t>
            </a:r>
            <a:r>
              <a:rPr lang="en-US" sz="1500" b="0" i="0" dirty="0">
                <a:solidFill>
                  <a:srgbClr val="000000"/>
                </a:solidFill>
                <a:effectLst/>
                <a:latin typeface="NimbusRomNo9L-Regu"/>
              </a:rPr>
              <a:t>: Rethinking model scaling for convolutional neural networks,” in </a:t>
            </a:r>
            <a:r>
              <a:rPr lang="en-US" sz="1500" b="0" i="1" dirty="0">
                <a:solidFill>
                  <a:srgbClr val="000000"/>
                </a:solidFill>
                <a:effectLst/>
                <a:latin typeface="NimbusRomNo9L-ReguItal"/>
              </a:rPr>
              <a:t>Proc. ICML</a:t>
            </a:r>
            <a:r>
              <a:rPr lang="en-US" sz="1500" b="0" i="0" dirty="0">
                <a:solidFill>
                  <a:srgbClr val="000000"/>
                </a:solidFill>
                <a:effectLst/>
                <a:latin typeface="NimbusRomNo9L-Regu"/>
              </a:rPr>
              <a:t>. PMLR, 2019, pp. 6105–6114.</a:t>
            </a:r>
            <a:r>
              <a:rPr lang="en-US" sz="1500" dirty="0"/>
              <a:t> </a:t>
            </a:r>
            <a:br>
              <a:rPr lang="en-US" sz="1500" dirty="0"/>
            </a:br>
            <a:br>
              <a:rPr lang="en-US" sz="1500" dirty="0"/>
            </a:br>
            <a:endParaRPr lang="en-US" sz="1500" dirty="0"/>
          </a:p>
        </p:txBody>
      </p:sp>
    </p:spTree>
    <p:extLst>
      <p:ext uri="{BB962C8B-B14F-4D97-AF65-F5344CB8AC3E}">
        <p14:creationId xmlns:p14="http://schemas.microsoft.com/office/powerpoint/2010/main" val="3925665291"/>
      </p:ext>
    </p:extLst>
  </p:cSld>
  <p:clrMapOvr>
    <a:masterClrMapping/>
  </p:clrMapOvr>
</p:sld>
</file>

<file path=ppt/theme/theme1.xml><?xml version="1.0" encoding="utf-8"?>
<a:theme xmlns:a="http://schemas.openxmlformats.org/drawingml/2006/main" name="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TotalTime>
  <Words>1854</Words>
  <Application>Microsoft Office PowerPoint</Application>
  <PresentationFormat>Widescreen</PresentationFormat>
  <Paragraphs>157</Paragraphs>
  <Slides>19</Slides>
  <Notes>19</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19</vt:i4>
      </vt:variant>
    </vt:vector>
  </HeadingPairs>
  <TitlesOfParts>
    <vt:vector size="30" baseType="lpstr">
      <vt:lpstr>Anaheim</vt:lpstr>
      <vt:lpstr>Arial</vt:lpstr>
      <vt:lpstr>Calibri</vt:lpstr>
      <vt:lpstr>Inconsolata</vt:lpstr>
      <vt:lpstr>NimbusRomNo9L-Regu</vt:lpstr>
      <vt:lpstr>NimbusRomNo9L-ReguItal</vt:lpstr>
      <vt:lpstr>Space Mono</vt:lpstr>
      <vt:lpstr>Times New Roman</vt:lpstr>
      <vt:lpstr>Wingdings</vt:lpstr>
      <vt:lpstr>Academic Conference Poster by Slidesgo</vt:lpstr>
      <vt:lpstr>1_Academic Conference Poster by Slidesgo</vt:lpstr>
      <vt:lpstr>Improved Waveform Classification for Integrated Radar-Communication 6G Systems via Convolutional Neural Networks </vt:lpstr>
      <vt:lpstr>Preview</vt:lpstr>
      <vt:lpstr>ABSTRACT</vt:lpstr>
      <vt:lpstr>OUTLINE</vt:lpstr>
      <vt:lpstr>MOTIVATION</vt:lpstr>
      <vt:lpstr>CONTRIBUTION</vt:lpstr>
      <vt:lpstr>INTRODUCTION</vt:lpstr>
      <vt:lpstr>INTRODUCTION</vt:lpstr>
      <vt:lpstr>INTRODUCTION</vt:lpstr>
      <vt:lpstr>INTRODUCTION</vt:lpstr>
      <vt:lpstr>INTRODUCTION</vt:lpstr>
      <vt:lpstr>SOLUTION</vt:lpstr>
      <vt:lpstr>SOLUTION</vt:lpstr>
      <vt:lpstr>SOLUTION</vt:lpstr>
      <vt:lpstr>EVALUTION</vt:lpstr>
      <vt:lpstr>EVALUTION</vt:lpstr>
      <vt:lpstr>EVALUTION</vt:lpstr>
      <vt:lpstr>REFERENCE</vt:lpstr>
      <vt:lpstr>REFERENCE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Nguyen Duy Huan</dc:creator>
  <cp:lastModifiedBy>Nguyen Duy Huan</cp:lastModifiedBy>
  <cp:revision>170</cp:revision>
  <dcterms:created xsi:type="dcterms:W3CDTF">2024-04-14T06:14:12Z</dcterms:created>
  <dcterms:modified xsi:type="dcterms:W3CDTF">2024-05-02T00:40:02Z</dcterms:modified>
</cp:coreProperties>
</file>